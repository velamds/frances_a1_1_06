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60" r:id="rId4"/>
    <p:sldId id="258" r:id="rId5"/>
    <p:sldId id="259" r:id="rId6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6">
          <p15:clr>
            <a:srgbClr val="A4A3A4"/>
          </p15:clr>
        </p15:guide>
        <p15:guide id="2" pos="356">
          <p15:clr>
            <a:srgbClr val="A4A3A4"/>
          </p15:clr>
        </p15:guide>
        <p15:guide id="3" pos="431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8694" autoAdjust="0"/>
  </p:normalViewPr>
  <p:slideViewPr>
    <p:cSldViewPr snapToGrid="0">
      <p:cViewPr>
        <p:scale>
          <a:sx n="90" d="100"/>
          <a:sy n="90" d="100"/>
        </p:scale>
        <p:origin x="1458" y="-282"/>
      </p:cViewPr>
      <p:guideLst>
        <p:guide orient="horz" pos="256"/>
        <p:guide pos="356"/>
        <p:guide pos="431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B8B786-5ACF-3F46-A579-501C4E3B131B}" type="datetimeFigureOut">
              <a:rPr lang="en-US" smtClean="0"/>
              <a:t>8/4/2015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A86FF-52D5-7E47-AF3B-226A321B9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1388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25243F-1C71-48BF-8695-F4FBDA3E52DC}" type="datetimeFigureOut">
              <a:rPr lang="en-IN" smtClean="0"/>
              <a:t>04-08-2015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B4869-E2F4-4899-A417-44DCD5B407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06964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 userDrawn="1"/>
        </p:nvGrpSpPr>
        <p:grpSpPr>
          <a:xfrm>
            <a:off x="560788" y="2773069"/>
            <a:ext cx="2461812" cy="351131"/>
            <a:chOff x="387782" y="2609610"/>
            <a:chExt cx="2461812" cy="351131"/>
          </a:xfrm>
        </p:grpSpPr>
        <p:sp>
          <p:nvSpPr>
            <p:cNvPr id="29" name="Shape 152"/>
            <p:cNvSpPr/>
            <p:nvPr/>
          </p:nvSpPr>
          <p:spPr>
            <a:xfrm>
              <a:off x="786698" y="2708377"/>
              <a:ext cx="956091" cy="184666"/>
            </a:xfrm>
            <a:prstGeom prst="rect">
              <a:avLst/>
            </a:prstGeom>
            <a:ln w="12700">
              <a:noFill/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defTabSz="685800">
                <a:defRPr sz="16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  <a:r>
                <a:rPr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tart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30" name="Shape 160"/>
            <p:cNvSpPr/>
            <p:nvPr/>
          </p:nvSpPr>
          <p:spPr>
            <a:xfrm flipH="1">
              <a:off x="387782" y="2958430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u="sng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31" name="Imagen 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7" y="2609610"/>
              <a:ext cx="326127" cy="326127"/>
            </a:xfrm>
            <a:prstGeom prst="rect">
              <a:avLst/>
            </a:prstGeom>
          </p:spPr>
        </p:pic>
      </p:grpSp>
      <p:sp>
        <p:nvSpPr>
          <p:cNvPr id="33" name="Shape 161"/>
          <p:cNvSpPr/>
          <p:nvPr/>
        </p:nvSpPr>
        <p:spPr>
          <a:xfrm>
            <a:off x="292100" y="7309234"/>
            <a:ext cx="2805318" cy="261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indent="228600" defTabSz="685800"/>
            <a:r>
              <a:rPr lang="en-CA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Ask your partner</a:t>
            </a:r>
            <a:r>
              <a:rPr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36" name="Shape 136"/>
          <p:cNvSpPr/>
          <p:nvPr/>
        </p:nvSpPr>
        <p:spPr>
          <a:xfrm>
            <a:off x="2616200" y="6384039"/>
            <a:ext cx="2618867" cy="169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/>
          <a:p>
            <a:pPr lvl="1" indent="228600" algn="l" defTabSz="685800"/>
            <a:r>
              <a:rPr lang="en-US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Can Do Statements</a:t>
            </a:r>
            <a:r>
              <a:rPr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39" name="Shape 161"/>
          <p:cNvSpPr/>
          <p:nvPr/>
        </p:nvSpPr>
        <p:spPr>
          <a:xfrm>
            <a:off x="279400" y="6337684"/>
            <a:ext cx="2805318" cy="2616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8" tIns="45718" rIns="45718" bIns="45718">
            <a:spAutoFit/>
          </a:bodyPr>
          <a:lstStyle/>
          <a:p>
            <a:pPr indent="228600" defTabSz="685800"/>
            <a:r>
              <a:rPr lang="en-US" sz="1100" b="1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rPr>
              <a:t>Learning Outcome:</a:t>
            </a:r>
            <a:endParaRPr sz="1100" b="1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 Semibold"/>
            </a:endParaRPr>
          </a:p>
        </p:txBody>
      </p:sp>
      <p:sp>
        <p:nvSpPr>
          <p:cNvPr id="65" name="Text Placeholder 64"/>
          <p:cNvSpPr>
            <a:spLocks noGrp="1"/>
          </p:cNvSpPr>
          <p:nvPr>
            <p:ph type="body" sz="quarter" idx="11" hasCustomPrompt="1"/>
          </p:nvPr>
        </p:nvSpPr>
        <p:spPr>
          <a:xfrm>
            <a:off x="469900" y="6597650"/>
            <a:ext cx="2597150" cy="609600"/>
          </a:xfrm>
        </p:spPr>
        <p:txBody>
          <a:bodyPr>
            <a:noAutofit/>
          </a:bodyPr>
          <a:lstStyle>
            <a:lvl1pPr marL="0" indent="0">
              <a:buFont typeface="Arial"/>
              <a:buNone/>
              <a:defRPr sz="100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Learning outcome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508000" y="7556500"/>
            <a:ext cx="2559050" cy="685800"/>
          </a:xfrm>
        </p:spPr>
        <p:txBody>
          <a:bodyPr>
            <a:noAutofit/>
          </a:bodyPr>
          <a:lstStyle>
            <a:lvl1pPr marL="88900" indent="-88900"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Question</a:t>
            </a:r>
          </a:p>
          <a:p>
            <a:pPr lvl="0"/>
            <a:r>
              <a:rPr lang="en-US" dirty="0" smtClean="0"/>
              <a:t>Question</a:t>
            </a:r>
          </a:p>
          <a:p>
            <a:pPr lvl="0"/>
            <a:endParaRPr lang="en-US" dirty="0" smtClean="0"/>
          </a:p>
        </p:txBody>
      </p:sp>
      <p:sp>
        <p:nvSpPr>
          <p:cNvPr id="69" name="Text Placeholder 68"/>
          <p:cNvSpPr>
            <a:spLocks noGrp="1"/>
          </p:cNvSpPr>
          <p:nvPr>
            <p:ph type="body" sz="quarter" idx="13" hasCustomPrompt="1"/>
          </p:nvPr>
        </p:nvSpPr>
        <p:spPr>
          <a:xfrm>
            <a:off x="3244850" y="6597650"/>
            <a:ext cx="3073400" cy="1644650"/>
          </a:xfrm>
        </p:spPr>
        <p:txBody>
          <a:bodyPr>
            <a:noAutofit/>
          </a:bodyPr>
          <a:lstStyle>
            <a:lvl1pPr marL="88900" indent="-88900">
              <a:defRPr sz="10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can</a:t>
            </a:r>
          </a:p>
          <a:p>
            <a:pPr lvl="0"/>
            <a:r>
              <a:rPr lang="en-US" dirty="0" smtClean="0"/>
              <a:t>I an</a:t>
            </a:r>
          </a:p>
        </p:txBody>
      </p:sp>
      <p:sp>
        <p:nvSpPr>
          <p:cNvPr id="73" name="Text Placeholder 64"/>
          <p:cNvSpPr>
            <a:spLocks noGrp="1"/>
          </p:cNvSpPr>
          <p:nvPr>
            <p:ph type="body" sz="quarter" idx="14"/>
          </p:nvPr>
        </p:nvSpPr>
        <p:spPr>
          <a:xfrm>
            <a:off x="469900" y="32448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6" name="Picture Placeholder 85"/>
          <p:cNvSpPr>
            <a:spLocks noGrp="1"/>
          </p:cNvSpPr>
          <p:nvPr>
            <p:ph type="pic" sz="quarter" idx="18"/>
          </p:nvPr>
        </p:nvSpPr>
        <p:spPr>
          <a:xfrm>
            <a:off x="1866900" y="3873500"/>
            <a:ext cx="3124200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800914" y="310506"/>
              <a:ext cx="1917436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In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the Park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85" name="Group 84"/>
          <p:cNvGrpSpPr/>
          <p:nvPr userDrawn="1"/>
        </p:nvGrpSpPr>
        <p:grpSpPr>
          <a:xfrm>
            <a:off x="553685" y="1022404"/>
            <a:ext cx="5910615" cy="838957"/>
            <a:chOff x="381329" y="1073204"/>
            <a:chExt cx="5910615" cy="838957"/>
          </a:xfrm>
        </p:grpSpPr>
        <p:sp>
          <p:nvSpPr>
            <p:cNvPr id="87" name="Shape 141"/>
            <p:cNvSpPr/>
            <p:nvPr/>
          </p:nvSpPr>
          <p:spPr>
            <a:xfrm>
              <a:off x="381329" y="1073204"/>
              <a:ext cx="70051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Instructor:</a:t>
              </a:r>
            </a:p>
          </p:txBody>
        </p:sp>
        <p:sp>
          <p:nvSpPr>
            <p:cNvPr id="88" name="Shape 142"/>
            <p:cNvSpPr/>
            <p:nvPr/>
          </p:nvSpPr>
          <p:spPr>
            <a:xfrm>
              <a:off x="384032" y="1420790"/>
              <a:ext cx="55143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Learner:</a:t>
              </a:r>
            </a:p>
          </p:txBody>
        </p:sp>
        <p:sp>
          <p:nvSpPr>
            <p:cNvPr id="89" name="Shape 143"/>
            <p:cNvSpPr/>
            <p:nvPr/>
          </p:nvSpPr>
          <p:spPr>
            <a:xfrm>
              <a:off x="3045468" y="1073800"/>
              <a:ext cx="362279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Date:</a:t>
              </a:r>
            </a:p>
          </p:txBody>
        </p:sp>
        <p:sp>
          <p:nvSpPr>
            <p:cNvPr id="90" name="Shape 144"/>
            <p:cNvSpPr/>
            <p:nvPr/>
          </p:nvSpPr>
          <p:spPr>
            <a:xfrm>
              <a:off x="383990" y="1757260"/>
              <a:ext cx="604333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Program:</a:t>
              </a:r>
            </a:p>
          </p:txBody>
        </p:sp>
        <p:sp>
          <p:nvSpPr>
            <p:cNvPr id="91" name="Shape 145"/>
            <p:cNvSpPr/>
            <p:nvPr/>
          </p:nvSpPr>
          <p:spPr>
            <a:xfrm flipH="1" flipV="1">
              <a:off x="1079500" y="1201922"/>
              <a:ext cx="1892578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2" name="Shape 146"/>
            <p:cNvSpPr/>
            <p:nvPr/>
          </p:nvSpPr>
          <p:spPr>
            <a:xfrm flipH="1" flipV="1">
              <a:off x="952500" y="1547974"/>
              <a:ext cx="2019300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3" name="Shape 147"/>
            <p:cNvSpPr/>
            <p:nvPr/>
          </p:nvSpPr>
          <p:spPr>
            <a:xfrm flipH="1" flipV="1">
              <a:off x="3573288" y="1883086"/>
              <a:ext cx="2718656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4" name="Shape 148"/>
            <p:cNvSpPr/>
            <p:nvPr/>
          </p:nvSpPr>
          <p:spPr>
            <a:xfrm flipH="1">
              <a:off x="1010542" y="1875782"/>
              <a:ext cx="1961257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5" name="Shape 149"/>
            <p:cNvSpPr/>
            <p:nvPr/>
          </p:nvSpPr>
          <p:spPr>
            <a:xfrm>
              <a:off x="3020545" y="1425344"/>
              <a:ext cx="1107676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r"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Regional Branch:</a:t>
              </a:r>
            </a:p>
          </p:txBody>
        </p:sp>
        <p:sp>
          <p:nvSpPr>
            <p:cNvPr id="96" name="Shape 150"/>
            <p:cNvSpPr/>
            <p:nvPr/>
          </p:nvSpPr>
          <p:spPr>
            <a:xfrm flipH="1">
              <a:off x="3454400" y="1198153"/>
              <a:ext cx="2827806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/>
            </a:p>
          </p:txBody>
        </p:sp>
        <p:sp>
          <p:nvSpPr>
            <p:cNvPr id="97" name="Shape 151"/>
            <p:cNvSpPr/>
            <p:nvPr/>
          </p:nvSpPr>
          <p:spPr>
            <a:xfrm>
              <a:off x="3028225" y="1758273"/>
              <a:ext cx="488916" cy="15388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/>
            <a:p>
              <a:pPr lvl="0" algn="r"/>
              <a:r>
                <a:rPr sz="1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"/>
                </a:rPr>
                <a:t>Center:</a:t>
              </a:r>
            </a:p>
          </p:txBody>
        </p:sp>
        <p:sp>
          <p:nvSpPr>
            <p:cNvPr id="98" name="Shape 162"/>
            <p:cNvSpPr/>
            <p:nvPr/>
          </p:nvSpPr>
          <p:spPr>
            <a:xfrm flipH="1" flipV="1">
              <a:off x="4156590" y="1545196"/>
              <a:ext cx="2135354" cy="0"/>
            </a:xfrm>
            <a:prstGeom prst="line">
              <a:avLst/>
            </a:prstGeom>
            <a:ln w="12700">
              <a:solidFill/>
              <a:custDash>
                <a:ds d="100000" sp="200000"/>
              </a:custDash>
              <a:round/>
            </a:ln>
          </p:spPr>
          <p:txBody>
            <a:bodyPr lIns="0" tIns="0" rIns="0" bIns="0"/>
            <a:lstStyle/>
            <a:p>
              <a:pPr lvl="0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u="sng" dirty="0"/>
            </a:p>
          </p:txBody>
        </p:sp>
      </p:grpSp>
      <p:grpSp>
        <p:nvGrpSpPr>
          <p:cNvPr id="99" name="Group 98"/>
          <p:cNvGrpSpPr/>
          <p:nvPr userDrawn="1"/>
        </p:nvGrpSpPr>
        <p:grpSpPr>
          <a:xfrm>
            <a:off x="554162" y="2137521"/>
            <a:ext cx="4351406" cy="407622"/>
            <a:chOff x="387751" y="2137521"/>
            <a:chExt cx="4351406" cy="407622"/>
          </a:xfrm>
        </p:grpSpPr>
        <p:sp>
          <p:nvSpPr>
            <p:cNvPr id="100" name="Shape 153"/>
            <p:cNvSpPr/>
            <p:nvPr/>
          </p:nvSpPr>
          <p:spPr>
            <a:xfrm>
              <a:off x="393859" y="2137521"/>
              <a:ext cx="1076053" cy="1692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sz="11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CONTENT</a:t>
              </a:r>
            </a:p>
          </p:txBody>
        </p:sp>
        <p:sp>
          <p:nvSpPr>
            <p:cNvPr id="101" name="Shape 154"/>
            <p:cNvSpPr/>
            <p:nvPr/>
          </p:nvSpPr>
          <p:spPr>
            <a:xfrm>
              <a:off x="387751" y="2406644"/>
              <a:ext cx="914586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tart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2" name="Shape 155"/>
            <p:cNvSpPr/>
            <p:nvPr/>
          </p:nvSpPr>
          <p:spPr>
            <a:xfrm>
              <a:off x="2161245" y="2406644"/>
              <a:ext cx="1600201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3" name="Shape 156"/>
            <p:cNvSpPr/>
            <p:nvPr/>
          </p:nvSpPr>
          <p:spPr>
            <a:xfrm>
              <a:off x="1204888" y="2406644"/>
              <a:ext cx="1437549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sz="900" spc="-2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Explore</a:t>
              </a:r>
              <a:r>
                <a:rPr lang="en-CA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04" name="Shape 158"/>
            <p:cNvSpPr/>
            <p:nvPr/>
          </p:nvSpPr>
          <p:spPr>
            <a:xfrm>
              <a:off x="3138956" y="2406644"/>
              <a:ext cx="1600201" cy="138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>
              <a:spAutoFit/>
            </a:bodyPr>
            <a:lstStyle>
              <a:lvl1pPr marL="110289" indent="-110289" defTabSz="685800">
                <a:buSzPct val="100000"/>
                <a:buChar char="•"/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>
                <a:defRPr sz="1800"/>
              </a:pPr>
              <a:r>
                <a:rPr lang="en-US" sz="900" spc="-2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Extension Activity</a:t>
              </a:r>
              <a:endPara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  <p:sp>
        <p:nvSpPr>
          <p:cNvPr id="105" name="Shape 157"/>
          <p:cNvSpPr/>
          <p:nvPr userDrawn="1"/>
        </p:nvSpPr>
        <p:spPr>
          <a:xfrm>
            <a:off x="5482678" y="2407349"/>
            <a:ext cx="1600201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marL="110289" indent="-110289" defTabSz="685800">
              <a:buSzPct val="100000"/>
              <a:buChar char="•"/>
              <a:defRPr sz="1100">
                <a:latin typeface="Myriad Pro"/>
                <a:ea typeface="Myriad Pro"/>
                <a:cs typeface="Myriad Pro"/>
                <a:sym typeface="Myriad Pro"/>
              </a:defRPr>
            </a:lvl1pPr>
          </a:lstStyle>
          <a:p>
            <a:pPr lvl="0">
              <a:defRPr sz="1800"/>
            </a:pP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Learning P</a:t>
            </a:r>
            <a:r>
              <a:rPr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oint</a:t>
            </a: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endParaRPr sz="900" spc="-2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6" name="Shape 158"/>
          <p:cNvSpPr/>
          <p:nvPr userDrawn="1"/>
        </p:nvSpPr>
        <p:spPr>
          <a:xfrm>
            <a:off x="4513622" y="2406644"/>
            <a:ext cx="1600201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>
            <a:spAutoFit/>
          </a:bodyPr>
          <a:lstStyle>
            <a:lvl1pPr marL="110289" indent="-110289" defTabSz="685800">
              <a:buSzPct val="100000"/>
              <a:buChar char="•"/>
              <a:defRPr sz="1100">
                <a:latin typeface="Myriad Pro"/>
                <a:ea typeface="Myriad Pro"/>
                <a:cs typeface="Myriad Pro"/>
                <a:sym typeface="Myriad Pro"/>
              </a:defRPr>
            </a:lvl1pPr>
          </a:lstStyle>
          <a:p>
            <a:pPr lvl="0">
              <a:defRPr sz="1800"/>
            </a:pPr>
            <a:r>
              <a:rPr sz="900" spc="-2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Target </a:t>
            </a:r>
            <a:r>
              <a:rPr lang="en-US"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</a:t>
            </a:r>
            <a:r>
              <a:rPr sz="900" spc="-2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ords</a:t>
            </a:r>
            <a:endParaRPr sz="900" spc="-2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45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54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5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57" name="TextBox 56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Expl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8" name="Shape 138"/>
            <p:cNvSpPr/>
            <p:nvPr/>
          </p:nvSpPr>
          <p:spPr>
            <a:xfrm>
              <a:off x="4763187" y="316856"/>
              <a:ext cx="1955163" cy="21544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In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the Park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11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12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564312" y="1045638"/>
            <a:ext cx="2461812" cy="358806"/>
            <a:chOff x="394132" y="1045638"/>
            <a:chExt cx="2461812" cy="358806"/>
          </a:xfrm>
        </p:grpSpPr>
        <p:sp>
          <p:nvSpPr>
            <p:cNvPr id="16" name="Shape 176"/>
            <p:cNvSpPr/>
            <p:nvPr/>
          </p:nvSpPr>
          <p:spPr>
            <a:xfrm>
              <a:off x="785439" y="1123089"/>
              <a:ext cx="117986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n-US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</a:t>
              </a:r>
              <a:r>
                <a:rPr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xplore</a:t>
              </a:r>
              <a:r>
                <a:rPr lang="en-CA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7" name="Shape 160"/>
            <p:cNvSpPr/>
            <p:nvPr/>
          </p:nvSpPr>
          <p:spPr>
            <a:xfrm flipH="1">
              <a:off x="394132" y="140213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pic>
          <p:nvPicPr>
            <p:cNvPr id="18" name="Imagen 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4768" y="1045638"/>
              <a:ext cx="327600" cy="327600"/>
            </a:xfrm>
            <a:prstGeom prst="rect">
              <a:avLst/>
            </a:prstGeom>
          </p:spPr>
        </p:pic>
      </p:grpSp>
      <p:sp>
        <p:nvSpPr>
          <p:cNvPr id="21" name="Picture Placeholder 85"/>
          <p:cNvSpPr>
            <a:spLocks noGrp="1"/>
          </p:cNvSpPr>
          <p:nvPr>
            <p:ph type="pic" sz="quarter" idx="18"/>
          </p:nvPr>
        </p:nvSpPr>
        <p:spPr>
          <a:xfrm>
            <a:off x="1866900" y="2184400"/>
            <a:ext cx="3124200" cy="18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2" name="Text Placeholder 68"/>
          <p:cNvSpPr>
            <a:spLocks noGrp="1"/>
          </p:cNvSpPr>
          <p:nvPr>
            <p:ph type="body" sz="quarter" idx="16" hasCustomPrompt="1"/>
          </p:nvPr>
        </p:nvSpPr>
        <p:spPr>
          <a:xfrm>
            <a:off x="476250" y="5048250"/>
            <a:ext cx="5842000" cy="3200400"/>
          </a:xfrm>
        </p:spPr>
        <p:txBody>
          <a:bodyPr>
            <a:noAutofit/>
          </a:bodyPr>
          <a:lstStyle>
            <a:lvl1pPr marL="0" indent="0" algn="l" defTabSz="685800" rtl="0">
              <a:lnSpc>
                <a:spcPct val="90000"/>
              </a:lnSpc>
              <a:spcBef>
                <a:spcPts val="100"/>
              </a:spcBef>
              <a:buFont typeface="+mj-lt"/>
              <a:buNone/>
              <a:tabLst>
                <a:tab pos="1079500" algn="l"/>
              </a:tabLst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Verdana"/>
              </a:rPr>
              <a:t>Conversation </a:t>
            </a:r>
            <a:r>
              <a:rPr lang="en-CA" b="1" i="1" dirty="0" smtClean="0">
                <a:solidFill>
                  <a:schemeClr val="bg1">
                    <a:lumMod val="75000"/>
                  </a:schemeClr>
                </a:solidFill>
                <a:latin typeface="+mn-lt"/>
                <a:cs typeface="Verdana"/>
              </a:rPr>
              <a:t>1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Bill</a:t>
            </a:r>
            <a:r>
              <a:rPr lang="en-CA" sz="1000" dirty="0" smtClean="0">
                <a:latin typeface="+mn-lt"/>
                <a:cs typeface="Verdana"/>
              </a:rPr>
              <a:t>:	Good morning, Ms. Smith. My name is Bill.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Ms. Smith</a:t>
            </a:r>
            <a:r>
              <a:rPr lang="en-CA" sz="1000" dirty="0" smtClean="0">
                <a:latin typeface="+mn-lt"/>
                <a:cs typeface="Verdana"/>
              </a:rPr>
              <a:t>:	Good morning, Bill. The weather is nice today!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Bill</a:t>
            </a:r>
            <a:r>
              <a:rPr lang="en-CA" sz="1000" dirty="0" smtClean="0">
                <a:latin typeface="+mn-lt"/>
                <a:cs typeface="Verdana"/>
              </a:rPr>
              <a:t>:	Yes, I love this weather. Summer is my </a:t>
            </a:r>
            <a:r>
              <a:rPr lang="en-CA" sz="1000" dirty="0" err="1" smtClean="0">
                <a:latin typeface="+mn-lt"/>
                <a:cs typeface="Verdana"/>
              </a:rPr>
              <a:t>favorite</a:t>
            </a:r>
            <a:r>
              <a:rPr lang="en-CA" sz="1000" dirty="0" smtClean="0">
                <a:latin typeface="+mn-lt"/>
                <a:cs typeface="Verdana"/>
              </a:rPr>
              <a:t> season.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Ms. Smith</a:t>
            </a:r>
            <a:r>
              <a:rPr lang="en-CA" sz="1000" dirty="0" smtClean="0">
                <a:latin typeface="+mn-lt"/>
                <a:cs typeface="Verdana"/>
              </a:rPr>
              <a:t>:	Winter is my </a:t>
            </a:r>
            <a:r>
              <a:rPr lang="en-CA" sz="1000" dirty="0" err="1" smtClean="0">
                <a:latin typeface="+mn-lt"/>
                <a:cs typeface="Verdana"/>
              </a:rPr>
              <a:t>favorite</a:t>
            </a:r>
            <a:r>
              <a:rPr lang="en-CA" sz="1000" dirty="0" smtClean="0">
                <a:latin typeface="+mn-lt"/>
                <a:cs typeface="Verdana"/>
              </a:rPr>
              <a:t> season.</a:t>
            </a:r>
          </a:p>
          <a:p>
            <a:pPr rtl="0">
              <a:spcBef>
                <a:spcPts val="100"/>
              </a:spcBef>
            </a:pPr>
            <a:endParaRPr lang="en-CA" sz="1000" b="1" dirty="0" smtClean="0">
              <a:latin typeface="+mn-lt"/>
              <a:cs typeface="Verdana"/>
            </a:endParaRP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Verdana"/>
              </a:rPr>
              <a:t>Conversation</a:t>
            </a:r>
            <a:r>
              <a:rPr lang="en-CA" sz="1000" b="1" dirty="0" smtClean="0">
                <a:latin typeface="+mn-lt"/>
                <a:cs typeface="Verdana"/>
              </a:rPr>
              <a:t> </a:t>
            </a:r>
            <a:r>
              <a:rPr lang="en-CA" b="1" i="1" dirty="0" smtClean="0">
                <a:solidFill>
                  <a:srgbClr val="BFBFBF"/>
                </a:solidFill>
                <a:latin typeface="+mn-lt"/>
                <a:cs typeface="Verdana"/>
              </a:rPr>
              <a:t>2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Angela</a:t>
            </a:r>
            <a:r>
              <a:rPr lang="en-CA" sz="1000" dirty="0" smtClean="0">
                <a:latin typeface="+mn-lt"/>
                <a:cs typeface="Verdana"/>
              </a:rPr>
              <a:t>:	Good afternoon, Kenji.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Kenji</a:t>
            </a:r>
            <a:r>
              <a:rPr lang="en-CA" sz="1000" dirty="0" smtClean="0">
                <a:latin typeface="+mn-lt"/>
                <a:cs typeface="Verdana"/>
              </a:rPr>
              <a:t>:</a:t>
            </a:r>
            <a:r>
              <a:rPr lang="en-CA" sz="1000" b="1" dirty="0" smtClean="0">
                <a:latin typeface="+mn-lt"/>
                <a:cs typeface="Verdana"/>
              </a:rPr>
              <a:t>	</a:t>
            </a:r>
            <a:r>
              <a:rPr lang="en-CA" sz="1000" dirty="0" smtClean="0">
                <a:latin typeface="+mn-lt"/>
                <a:cs typeface="Verdana"/>
              </a:rPr>
              <a:t>Good afternoon to you too, Angela. I am happy it is Friday!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Angela</a:t>
            </a:r>
            <a:r>
              <a:rPr lang="en-CA" sz="1000" dirty="0" smtClean="0">
                <a:latin typeface="+mn-lt"/>
                <a:cs typeface="Verdana"/>
              </a:rPr>
              <a:t>:	I am too.</a:t>
            </a: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endParaRPr lang="en-CA" sz="1000" b="0" dirty="0" smtClean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algn="l" rtl="0">
              <a:spcBef>
                <a:spcPts val="100"/>
              </a:spcBef>
              <a:tabLst>
                <a:tab pos="806450" algn="l"/>
              </a:tabLst>
            </a:pPr>
            <a:r>
              <a:rPr lang="en-CA" sz="1000" b="1" dirty="0" smtClean="0">
                <a:solidFill>
                  <a:srgbClr val="595959"/>
                </a:solidFill>
                <a:latin typeface="+mn-lt"/>
                <a:cs typeface="Verdana"/>
              </a:rPr>
              <a:t>Conversation</a:t>
            </a:r>
            <a:r>
              <a:rPr lang="en-CA" sz="1000" b="1" dirty="0" smtClean="0">
                <a:latin typeface="+mn-lt"/>
                <a:cs typeface="Verdana"/>
              </a:rPr>
              <a:t> </a:t>
            </a:r>
            <a:r>
              <a:rPr lang="en-CA" b="1" i="1" dirty="0" smtClean="0">
                <a:solidFill>
                  <a:srgbClr val="BFBFBF"/>
                </a:solidFill>
                <a:latin typeface="+mn-lt"/>
                <a:cs typeface="Verdana"/>
              </a:rPr>
              <a:t>3</a:t>
            </a:r>
          </a:p>
          <a:p>
            <a:pPr rtl="0">
              <a:spcBef>
                <a:spcPts val="100"/>
              </a:spcBef>
              <a:tabLst>
                <a:tab pos="806450" algn="l"/>
              </a:tabLst>
            </a:pPr>
            <a:endParaRPr lang="en-CA" sz="1000" b="1" dirty="0" smtClean="0">
              <a:latin typeface="+mn-lt"/>
              <a:cs typeface="Verdana"/>
            </a:endParaRP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Dad</a:t>
            </a:r>
            <a:r>
              <a:rPr lang="en-CA" sz="1000" dirty="0" smtClean="0">
                <a:latin typeface="+mn-lt"/>
                <a:cs typeface="Verdana"/>
              </a:rPr>
              <a:t>:	Hey, Jenny.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Jenny</a:t>
            </a:r>
            <a:r>
              <a:rPr lang="en-CA" sz="1000" dirty="0" smtClean="0">
                <a:latin typeface="+mn-lt"/>
                <a:cs typeface="Verdana"/>
              </a:rPr>
              <a:t>:	Hi, Dad. It is movie night tonight.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Dad</a:t>
            </a:r>
            <a:r>
              <a:rPr lang="en-CA" sz="1000" dirty="0" smtClean="0">
                <a:latin typeface="+mn-lt"/>
                <a:cs typeface="Verdana"/>
              </a:rPr>
              <a:t>:	It is pizza night too!</a:t>
            </a:r>
          </a:p>
          <a:p>
            <a:pPr marL="177800" rtl="0">
              <a:spcBef>
                <a:spcPts val="100"/>
              </a:spcBef>
              <a:tabLst>
                <a:tab pos="984250" algn="l"/>
              </a:tabLst>
            </a:pPr>
            <a:r>
              <a:rPr lang="en-CA" sz="1000" b="1" dirty="0" smtClean="0">
                <a:latin typeface="+mn-lt"/>
                <a:cs typeface="Verdana"/>
              </a:rPr>
              <a:t>Jenny</a:t>
            </a:r>
            <a:r>
              <a:rPr lang="en-CA" sz="1000" dirty="0" smtClean="0">
                <a:latin typeface="+mn-lt"/>
                <a:cs typeface="Verdana"/>
              </a:rPr>
              <a:t>:	YESSSSSSS!</a:t>
            </a:r>
          </a:p>
        </p:txBody>
      </p:sp>
      <p:sp>
        <p:nvSpPr>
          <p:cNvPr id="23" name="Text Placeholder 64"/>
          <p:cNvSpPr>
            <a:spLocks noGrp="1"/>
          </p:cNvSpPr>
          <p:nvPr>
            <p:ph type="body" sz="quarter" idx="19" hasCustomPrompt="1"/>
          </p:nvPr>
        </p:nvSpPr>
        <p:spPr>
          <a:xfrm>
            <a:off x="469900" y="46291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14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</p:spTree>
    <p:extLst>
      <p:ext uri="{BB962C8B-B14F-4D97-AF65-F5344CB8AC3E}">
        <p14:creationId xmlns:p14="http://schemas.microsoft.com/office/powerpoint/2010/main" val="2355555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's Prac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8" name="Shape 138"/>
            <p:cNvSpPr/>
            <p:nvPr/>
          </p:nvSpPr>
          <p:spPr>
            <a:xfrm>
              <a:off x="4763187" y="316856"/>
              <a:ext cx="1955163" cy="21544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In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the Park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10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11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12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23" name="Text Placeholder 64"/>
          <p:cNvSpPr>
            <a:spLocks noGrp="1"/>
          </p:cNvSpPr>
          <p:nvPr>
            <p:ph type="body" sz="quarter" idx="19" hasCustomPrompt="1"/>
          </p:nvPr>
        </p:nvSpPr>
        <p:spPr>
          <a:xfrm>
            <a:off x="482600" y="20002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24" name="Text Placeholder 64"/>
          <p:cNvSpPr>
            <a:spLocks noGrp="1"/>
          </p:cNvSpPr>
          <p:nvPr>
            <p:ph type="body" sz="quarter" idx="14" hasCustomPrompt="1"/>
          </p:nvPr>
        </p:nvSpPr>
        <p:spPr>
          <a:xfrm>
            <a:off x="469900" y="1555750"/>
            <a:ext cx="5861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grpSp>
        <p:nvGrpSpPr>
          <p:cNvPr id="27" name="Group 7"/>
          <p:cNvGrpSpPr/>
          <p:nvPr userDrawn="1"/>
        </p:nvGrpSpPr>
        <p:grpSpPr>
          <a:xfrm>
            <a:off x="565150" y="1043658"/>
            <a:ext cx="2461812" cy="366794"/>
            <a:chOff x="394262" y="1044000"/>
            <a:chExt cx="2461812" cy="366794"/>
          </a:xfrm>
        </p:grpSpPr>
        <p:sp>
          <p:nvSpPr>
            <p:cNvPr id="28" name="Shape 160"/>
            <p:cNvSpPr/>
            <p:nvPr/>
          </p:nvSpPr>
          <p:spPr>
            <a:xfrm flipH="1">
              <a:off x="394262" y="140848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29" name="Shape 176"/>
            <p:cNvSpPr/>
            <p:nvPr/>
          </p:nvSpPr>
          <p:spPr>
            <a:xfrm>
              <a:off x="779876" y="1123757"/>
              <a:ext cx="122532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30" name="Imagen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1044000"/>
              <a:ext cx="327600" cy="327600"/>
            </a:xfrm>
            <a:prstGeom prst="rect">
              <a:avLst/>
            </a:prstGeom>
          </p:spPr>
        </p:pic>
      </p:grpSp>
      <p:grpSp>
        <p:nvGrpSpPr>
          <p:cNvPr id="32" name="Group 7"/>
          <p:cNvGrpSpPr/>
          <p:nvPr userDrawn="1"/>
        </p:nvGrpSpPr>
        <p:grpSpPr>
          <a:xfrm>
            <a:off x="565712" y="4479008"/>
            <a:ext cx="2461812" cy="366794"/>
            <a:chOff x="394262" y="1044000"/>
            <a:chExt cx="2461812" cy="366794"/>
          </a:xfrm>
        </p:grpSpPr>
        <p:sp>
          <p:nvSpPr>
            <p:cNvPr id="33" name="Shape 160"/>
            <p:cNvSpPr/>
            <p:nvPr/>
          </p:nvSpPr>
          <p:spPr>
            <a:xfrm flipH="1">
              <a:off x="394262" y="1408483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34" name="Shape 176"/>
            <p:cNvSpPr/>
            <p:nvPr/>
          </p:nvSpPr>
          <p:spPr>
            <a:xfrm>
              <a:off x="779876" y="1123757"/>
              <a:ext cx="1225320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>
                <a:defRPr sz="1800"/>
              </a:pPr>
              <a:r>
                <a:rPr sz="12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Let’s </a:t>
              </a: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Practice!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35" name="Imagen 3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1044000"/>
              <a:ext cx="327600" cy="327600"/>
            </a:xfrm>
            <a:prstGeom prst="rect">
              <a:avLst/>
            </a:prstGeom>
          </p:spPr>
        </p:pic>
      </p:grpSp>
      <p:sp>
        <p:nvSpPr>
          <p:cNvPr id="36" name="Text Placeholder 64"/>
          <p:cNvSpPr>
            <a:spLocks noGrp="1"/>
          </p:cNvSpPr>
          <p:nvPr>
            <p:ph type="body" sz="quarter" idx="20" hasCustomPrompt="1"/>
          </p:nvPr>
        </p:nvSpPr>
        <p:spPr>
          <a:xfrm>
            <a:off x="482600" y="5492750"/>
            <a:ext cx="5848350" cy="228600"/>
          </a:xfrm>
        </p:spPr>
        <p:txBody>
          <a:bodyPr>
            <a:noAutofit/>
          </a:bodyPr>
          <a:lstStyle>
            <a:lvl1pPr algn="l" rtl="0">
              <a:buNone/>
              <a:defRPr sz="1100" i="1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algn="l" rtl="0"/>
            <a:r>
              <a:rPr lang="en-US" sz="1000" dirty="0" smtClean="0">
                <a:latin typeface="+mn-lt"/>
                <a:cs typeface="Verdana"/>
              </a:rPr>
              <a:t>Instructions: Read the dialogue aloud.</a:t>
            </a:r>
            <a:endParaRPr lang="en-US" sz="1000" dirty="0">
              <a:latin typeface="+mn-lt"/>
              <a:cs typeface="Verdana"/>
            </a:endParaRPr>
          </a:p>
        </p:txBody>
      </p:sp>
      <p:sp>
        <p:nvSpPr>
          <p:cNvPr id="37" name="Text Placeholder 64"/>
          <p:cNvSpPr>
            <a:spLocks noGrp="1"/>
          </p:cNvSpPr>
          <p:nvPr>
            <p:ph type="body" sz="quarter" idx="21" hasCustomPrompt="1"/>
          </p:nvPr>
        </p:nvSpPr>
        <p:spPr>
          <a:xfrm>
            <a:off x="469900" y="5048250"/>
            <a:ext cx="5861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</p:spTree>
    <p:extLst>
      <p:ext uri="{BB962C8B-B14F-4D97-AF65-F5344CB8AC3E}">
        <p14:creationId xmlns:p14="http://schemas.microsoft.com/office/powerpoint/2010/main" val="611868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ension Activity &amp; Target 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763187" y="316856"/>
              <a:ext cx="1955163" cy="21544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In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the Park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45" name="Group 8"/>
          <p:cNvGrpSpPr/>
          <p:nvPr userDrawn="1"/>
        </p:nvGrpSpPr>
        <p:grpSpPr>
          <a:xfrm>
            <a:off x="561159" y="1036723"/>
            <a:ext cx="2462329" cy="366120"/>
            <a:chOff x="389650" y="4592417"/>
            <a:chExt cx="2462329" cy="366120"/>
          </a:xfrm>
        </p:grpSpPr>
        <p:pic>
          <p:nvPicPr>
            <p:cNvPr id="54" name="Imagen 2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4592417"/>
              <a:ext cx="327600" cy="327600"/>
            </a:xfrm>
            <a:prstGeom prst="rect">
              <a:avLst/>
            </a:prstGeom>
          </p:spPr>
        </p:pic>
        <p:sp>
          <p:nvSpPr>
            <p:cNvPr id="55" name="Shape 176"/>
            <p:cNvSpPr/>
            <p:nvPr/>
          </p:nvSpPr>
          <p:spPr>
            <a:xfrm>
              <a:off x="776282" y="4668506"/>
              <a:ext cx="1615827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Extension Activity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57" name="Shape 160"/>
            <p:cNvSpPr/>
            <p:nvPr/>
          </p:nvSpPr>
          <p:spPr>
            <a:xfrm flipH="1">
              <a:off x="390167" y="4956226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76" name="Group 12"/>
          <p:cNvGrpSpPr/>
          <p:nvPr userDrawn="1"/>
        </p:nvGrpSpPr>
        <p:grpSpPr>
          <a:xfrm>
            <a:off x="559830" y="4929500"/>
            <a:ext cx="2462801" cy="363963"/>
            <a:chOff x="389650" y="1044707"/>
            <a:chExt cx="2462801" cy="363963"/>
          </a:xfrm>
        </p:grpSpPr>
        <p:sp>
          <p:nvSpPr>
            <p:cNvPr id="77" name="Shape 160"/>
            <p:cNvSpPr/>
            <p:nvPr/>
          </p:nvSpPr>
          <p:spPr>
            <a:xfrm flipH="1">
              <a:off x="390639" y="1406359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8" name="Shape 176"/>
            <p:cNvSpPr/>
            <p:nvPr/>
          </p:nvSpPr>
          <p:spPr>
            <a:xfrm>
              <a:off x="794872" y="1122231"/>
              <a:ext cx="1171796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Target </a:t>
              </a:r>
              <a:r>
                <a:rPr lang="es-CO" sz="12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</a:t>
              </a:r>
              <a:r>
                <a:rPr lang="es-CO" sz="1200" b="1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ords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79" name="Imagen 3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1044707"/>
              <a:ext cx="327600" cy="327600"/>
            </a:xfrm>
            <a:prstGeom prst="rect">
              <a:avLst/>
            </a:prstGeom>
          </p:spPr>
        </p:pic>
      </p:grpSp>
      <p:grpSp>
        <p:nvGrpSpPr>
          <p:cNvPr id="80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81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37" name="Text Placeholder 68"/>
          <p:cNvSpPr>
            <a:spLocks noGrp="1"/>
          </p:cNvSpPr>
          <p:nvPr>
            <p:ph type="body" sz="quarter" idx="13" hasCustomPrompt="1"/>
          </p:nvPr>
        </p:nvSpPr>
        <p:spPr>
          <a:xfrm>
            <a:off x="463550" y="5537200"/>
            <a:ext cx="288290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38" name="Text Placeholder 68"/>
          <p:cNvSpPr>
            <a:spLocks noGrp="1"/>
          </p:cNvSpPr>
          <p:nvPr>
            <p:ph type="body" sz="quarter" idx="14" hasCustomPrompt="1"/>
          </p:nvPr>
        </p:nvSpPr>
        <p:spPr>
          <a:xfrm>
            <a:off x="3524250" y="5537200"/>
            <a:ext cx="2978150" cy="1644650"/>
          </a:xfrm>
        </p:spPr>
        <p:txBody>
          <a:bodyPr>
            <a:noAutofit/>
          </a:bodyPr>
          <a:lstStyle>
            <a:lvl1pPr marL="88900" indent="-88900"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word (part of speech): definition</a:t>
            </a:r>
          </a:p>
        </p:txBody>
      </p:sp>
      <p:sp>
        <p:nvSpPr>
          <p:cNvPr id="42" name="Text Placeholder 68"/>
          <p:cNvSpPr>
            <a:spLocks noGrp="1"/>
          </p:cNvSpPr>
          <p:nvPr>
            <p:ph type="body" sz="quarter" idx="16" hasCustomPrompt="1"/>
          </p:nvPr>
        </p:nvSpPr>
        <p:spPr>
          <a:xfrm>
            <a:off x="469900" y="2438400"/>
            <a:ext cx="2882900" cy="1644650"/>
          </a:xfrm>
        </p:spPr>
        <p:txBody>
          <a:bodyPr>
            <a:noAutofit/>
          </a:bodyPr>
          <a:lstStyle>
            <a:lvl1pPr marL="228600" indent="-228600" algn="l" defTabSz="685800">
              <a:lnSpc>
                <a:spcPct val="90000"/>
              </a:lnSpc>
              <a:buFont typeface="+mj-lt"/>
              <a:buAutoNum type="alphaLcParenR"/>
              <a:defRPr sz="1000" b="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  <a:b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</a:b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marL="228600" lvl="0" indent="-22860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  <a:p>
            <a:pPr lvl="0" algn="l" defTabSz="685800">
              <a:lnSpc>
                <a:spcPct val="90000"/>
              </a:lnSpc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Step</a:t>
            </a:r>
          </a:p>
        </p:txBody>
      </p:sp>
      <p:sp>
        <p:nvSpPr>
          <p:cNvPr id="43" name="Text Placeholder 64"/>
          <p:cNvSpPr>
            <a:spLocks noGrp="1"/>
          </p:cNvSpPr>
          <p:nvPr>
            <p:ph type="body" sz="quarter" idx="17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</p:spTree>
    <p:extLst>
      <p:ext uri="{BB962C8B-B14F-4D97-AF65-F5344CB8AC3E}">
        <p14:creationId xmlns:p14="http://schemas.microsoft.com/office/powerpoint/2010/main" val="2596481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763187" y="316856"/>
              <a:ext cx="1955163" cy="21544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In</a:t>
              </a:r>
              <a:r>
                <a:rPr lang="es-CO" sz="700" baseline="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the Park</a:t>
              </a:r>
              <a:endParaRPr lang="es-CO" sz="7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  <a:p>
              <a:pPr lvl="0" algn="r">
                <a:defRPr sz="1800"/>
              </a:pP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80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81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  <p:sp>
        <p:nvSpPr>
          <p:cNvPr id="43" name="Text Placeholder 64"/>
          <p:cNvSpPr>
            <a:spLocks noGrp="1"/>
          </p:cNvSpPr>
          <p:nvPr>
            <p:ph type="body" sz="quarter" idx="17" hasCustomPrompt="1"/>
          </p:nvPr>
        </p:nvSpPr>
        <p:spPr>
          <a:xfrm>
            <a:off x="469900" y="1555750"/>
            <a:ext cx="5226050" cy="412750"/>
          </a:xfrm>
        </p:spPr>
        <p:txBody>
          <a:bodyPr>
            <a:noAutofit/>
          </a:bodyPr>
          <a:lstStyle>
            <a:lvl1pPr>
              <a:buNone/>
              <a:defRPr sz="110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Pedagogical instructions</a:t>
            </a:r>
          </a:p>
        </p:txBody>
      </p:sp>
      <p:grpSp>
        <p:nvGrpSpPr>
          <p:cNvPr id="23" name="Group 22"/>
          <p:cNvGrpSpPr/>
          <p:nvPr userDrawn="1"/>
        </p:nvGrpSpPr>
        <p:grpSpPr>
          <a:xfrm>
            <a:off x="559880" y="1044072"/>
            <a:ext cx="2461812" cy="372551"/>
            <a:chOff x="389700" y="3441761"/>
            <a:chExt cx="2461812" cy="372551"/>
          </a:xfrm>
        </p:grpSpPr>
        <p:pic>
          <p:nvPicPr>
            <p:cNvPr id="24" name="Imagen 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6000" y="3441761"/>
              <a:ext cx="327600" cy="327600"/>
            </a:xfrm>
            <a:prstGeom prst="rect">
              <a:avLst/>
            </a:prstGeom>
          </p:spPr>
        </p:pic>
        <p:sp>
          <p:nvSpPr>
            <p:cNvPr id="25" name="Shape 176"/>
            <p:cNvSpPr/>
            <p:nvPr/>
          </p:nvSpPr>
          <p:spPr>
            <a:xfrm>
              <a:off x="786405" y="3519928"/>
              <a:ext cx="1353661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Learning Points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26" name="Shape 160"/>
            <p:cNvSpPr/>
            <p:nvPr/>
          </p:nvSpPr>
          <p:spPr>
            <a:xfrm flipH="1">
              <a:off x="389700" y="3812001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sp>
        <p:nvSpPr>
          <p:cNvPr id="27" name="Text Placeholder 64"/>
          <p:cNvSpPr>
            <a:spLocks noGrp="1"/>
          </p:cNvSpPr>
          <p:nvPr>
            <p:ph type="body" sz="quarter" idx="11" hasCustomPrompt="1"/>
          </p:nvPr>
        </p:nvSpPr>
        <p:spPr>
          <a:xfrm>
            <a:off x="469900" y="2133600"/>
            <a:ext cx="2597150" cy="609600"/>
          </a:xfrm>
        </p:spPr>
        <p:txBody>
          <a:bodyPr>
            <a:noAutofit/>
          </a:bodyPr>
          <a:lstStyle>
            <a:lvl1pPr marL="0" indent="0">
              <a:buFont typeface="Arial"/>
              <a:buNone/>
              <a:defRPr sz="1000" baseline="0"/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 smtClean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299523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xtension Activ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 userDrawn="1"/>
        </p:nvGrpSpPr>
        <p:grpSpPr>
          <a:xfrm>
            <a:off x="64258" y="-44840"/>
            <a:ext cx="6733046" cy="888254"/>
            <a:chOff x="83308" y="-44840"/>
            <a:chExt cx="6733046" cy="888254"/>
          </a:xfrm>
        </p:grpSpPr>
        <p:pic>
          <p:nvPicPr>
            <p:cNvPr id="47" name="Imagen 3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08" y="148469"/>
              <a:ext cx="6733046" cy="694945"/>
            </a:xfrm>
            <a:prstGeom prst="rect">
              <a:avLst/>
            </a:prstGeom>
          </p:spPr>
        </p:pic>
        <p:sp>
          <p:nvSpPr>
            <p:cNvPr id="48" name="Shape 138"/>
            <p:cNvSpPr/>
            <p:nvPr/>
          </p:nvSpPr>
          <p:spPr>
            <a:xfrm>
              <a:off x="4800914" y="316856"/>
              <a:ext cx="1917436" cy="1077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1100">
                  <a:latin typeface="Myriad Pro"/>
                  <a:ea typeface="Myriad Pro"/>
                  <a:cs typeface="Myriad Pro"/>
                  <a:sym typeface="Myriad Pro"/>
                </a:defRPr>
              </a:lvl1pPr>
            </a:lstStyle>
            <a:p>
              <a:pPr lvl="0" algn="r">
                <a:defRPr sz="1800"/>
              </a:pPr>
              <a:r>
                <a:rPr sz="700" dirty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English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Level A1.1 Starter</a:t>
              </a:r>
              <a:r>
                <a:rPr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s-CO" sz="700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&gt; In the Park</a:t>
              </a:r>
              <a:endParaRPr sz="7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49" name="Shape 167"/>
            <p:cNvSpPr/>
            <p:nvPr/>
          </p:nvSpPr>
          <p:spPr>
            <a:xfrm>
              <a:off x="1015007" y="-44840"/>
              <a:ext cx="2805317" cy="7768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lIns="0" tIns="0" rIns="0" bIns="0" anchor="ctr">
              <a:normAutofit/>
            </a:bodyPr>
            <a:lstStyle/>
            <a:p>
              <a:pPr lvl="0" defTabSz="685800"/>
              <a:r>
                <a:rPr lang="en-US" sz="1200" b="1" dirty="0" smtClean="0">
                  <a:solidFill>
                    <a:schemeClr val="bg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Myriad Pro Semibold"/>
                </a:rPr>
                <a:t>Takeaway</a:t>
              </a:r>
              <a:endParaRPr sz="12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 Semibold"/>
              </a:endParaRPr>
            </a:p>
          </p:txBody>
        </p:sp>
      </p:grpSp>
      <p:pic>
        <p:nvPicPr>
          <p:cNvPr id="56" name="Imagen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11207"/>
            <a:ext cx="6864530" cy="641259"/>
          </a:xfrm>
          <a:prstGeom prst="rect">
            <a:avLst/>
          </a:prstGeom>
        </p:spPr>
      </p:pic>
      <p:grpSp>
        <p:nvGrpSpPr>
          <p:cNvPr id="45" name="Group 8"/>
          <p:cNvGrpSpPr/>
          <p:nvPr userDrawn="1"/>
        </p:nvGrpSpPr>
        <p:grpSpPr>
          <a:xfrm>
            <a:off x="561159" y="1036723"/>
            <a:ext cx="2462329" cy="366120"/>
            <a:chOff x="389650" y="4592417"/>
            <a:chExt cx="2462329" cy="366120"/>
          </a:xfrm>
        </p:grpSpPr>
        <p:pic>
          <p:nvPicPr>
            <p:cNvPr id="54" name="Imagen 2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4592417"/>
              <a:ext cx="327600" cy="327600"/>
            </a:xfrm>
            <a:prstGeom prst="rect">
              <a:avLst/>
            </a:prstGeom>
          </p:spPr>
        </p:pic>
        <p:sp>
          <p:nvSpPr>
            <p:cNvPr id="55" name="Shape 176"/>
            <p:cNvSpPr/>
            <p:nvPr/>
          </p:nvSpPr>
          <p:spPr>
            <a:xfrm>
              <a:off x="776282" y="4668506"/>
              <a:ext cx="1615827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Extension Activity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57" name="Shape 160"/>
            <p:cNvSpPr/>
            <p:nvPr/>
          </p:nvSpPr>
          <p:spPr>
            <a:xfrm flipH="1">
              <a:off x="390167" y="4956226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</p:grpSp>
      <p:grpSp>
        <p:nvGrpSpPr>
          <p:cNvPr id="76" name="Group 12"/>
          <p:cNvGrpSpPr/>
          <p:nvPr userDrawn="1"/>
        </p:nvGrpSpPr>
        <p:grpSpPr>
          <a:xfrm>
            <a:off x="559830" y="4929500"/>
            <a:ext cx="2462801" cy="363963"/>
            <a:chOff x="389650" y="1044707"/>
            <a:chExt cx="2462801" cy="363963"/>
          </a:xfrm>
        </p:grpSpPr>
        <p:sp>
          <p:nvSpPr>
            <p:cNvPr id="77" name="Shape 160"/>
            <p:cNvSpPr/>
            <p:nvPr/>
          </p:nvSpPr>
          <p:spPr>
            <a:xfrm flipH="1">
              <a:off x="390639" y="1406359"/>
              <a:ext cx="2461812" cy="2311"/>
            </a:xfrm>
            <a:prstGeom prst="line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miter lim="400000"/>
            </a:ln>
          </p:spPr>
          <p:txBody>
            <a:bodyPr lIns="0" tIns="0" rIns="0" bIns="0"/>
            <a:lstStyle/>
            <a:p>
              <a:pPr lvl="0" algn="r" defTabSz="457200">
                <a:defRPr sz="1200">
                  <a:latin typeface="+mj-lt"/>
                  <a:ea typeface="+mj-ea"/>
                  <a:cs typeface="+mj-cs"/>
                  <a:sym typeface="Helvetica"/>
                </a:defRPr>
              </a:pPr>
              <a:endParaRPr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78" name="Shape 176"/>
            <p:cNvSpPr/>
            <p:nvPr/>
          </p:nvSpPr>
          <p:spPr>
            <a:xfrm>
              <a:off x="794872" y="1122231"/>
              <a:ext cx="1171796" cy="18466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0" tIns="0" rIns="0" bIns="0">
              <a:spAutoFit/>
            </a:bodyPr>
            <a:lstStyle>
              <a:lvl1pPr algn="ctr" defTabSz="685800">
                <a:defRPr sz="1400">
                  <a:latin typeface="Myriad Pro Semibold"/>
                  <a:ea typeface="Myriad Pro Semibold"/>
                  <a:cs typeface="Myriad Pro Semibold"/>
                  <a:sym typeface="Myriad Pro Semibold"/>
                </a:defRPr>
              </a:lvl1pPr>
            </a:lstStyle>
            <a:p>
              <a:pPr lvl="0" algn="l">
                <a:defRPr sz="1800"/>
              </a:pPr>
              <a:r>
                <a:rPr lang="es-CO" sz="12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Target </a:t>
              </a:r>
              <a:r>
                <a:rPr lang="es-CO" sz="1200" b="1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</a:t>
              </a:r>
              <a:r>
                <a:rPr lang="es-CO" sz="1200" b="1" dirty="0" err="1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ords</a:t>
              </a:r>
              <a:endParaRPr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pic>
          <p:nvPicPr>
            <p:cNvPr id="79" name="Imagen 3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9650" y="1044707"/>
              <a:ext cx="327600" cy="327600"/>
            </a:xfrm>
            <a:prstGeom prst="rect">
              <a:avLst/>
            </a:prstGeom>
          </p:spPr>
        </p:pic>
      </p:grpSp>
      <p:grpSp>
        <p:nvGrpSpPr>
          <p:cNvPr id="80" name="Group 141"/>
          <p:cNvGrpSpPr/>
          <p:nvPr userDrawn="1"/>
        </p:nvGrpSpPr>
        <p:grpSpPr>
          <a:xfrm>
            <a:off x="2940111" y="8670394"/>
            <a:ext cx="977780" cy="558732"/>
            <a:chOff x="0" y="12700"/>
            <a:chExt cx="977779" cy="558730"/>
          </a:xfrm>
        </p:grpSpPr>
        <p:pic>
          <p:nvPicPr>
            <p:cNvPr id="81" name="image3.png" descr="C:\Users\260-1-216\AppData\Roaming\Skype\eferdipa\media_messaging\media_cache\^A7BC951C0DEC4AB2BD98ABA10B754378337ADFE5FC34309644^pimgpsh_fullsize_distr.jpg"/>
            <p:cNvPicPr/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0" y="12700"/>
              <a:ext cx="977779" cy="55873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82" name="Shape 140"/>
            <p:cNvSpPr/>
            <p:nvPr/>
          </p:nvSpPr>
          <p:spPr>
            <a:xfrm>
              <a:off x="298330" y="126681"/>
              <a:ext cx="381118" cy="2819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1200"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endParaRPr sz="1200" dirty="0"/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3162300" y="8810823"/>
            <a:ext cx="4503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fld id="{D1824F7C-E731-3149-8610-E5428C1503D6}" type="slidenum">
              <a:rPr lang="en-US" sz="1200" smtClean="0"/>
              <a:pPr algn="ctr"/>
              <a:t>‹#›</a:t>
            </a:fld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67531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8E352-EA88-40AF-8669-23AE5A543FD4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1" r:id="rId4"/>
    <p:sldLayoutId id="2147483654" r:id="rId5"/>
    <p:sldLayoutId id="2147483655" r:id="rId6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Describe places, neighborhoods and countries in communicative situations.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508000" y="7556500"/>
            <a:ext cx="2921000" cy="685800"/>
          </a:xfrm>
        </p:spPr>
        <p:txBody>
          <a:bodyPr/>
          <a:lstStyle/>
          <a:p>
            <a:r>
              <a:rPr lang="en-US" dirty="0"/>
              <a:t>Do you know your neighborhood well?</a:t>
            </a:r>
          </a:p>
          <a:p>
            <a:r>
              <a:rPr lang="en-US" dirty="0"/>
              <a:t>What are your favorite places in your neighborhood?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I can make suggestions.</a:t>
            </a:r>
          </a:p>
          <a:p>
            <a:r>
              <a:rPr lang="en-US" dirty="0"/>
              <a:t>I can ask and say where places are in a city.</a:t>
            </a:r>
          </a:p>
          <a:p>
            <a:r>
              <a:rPr lang="en-US" dirty="0"/>
              <a:t>I can express location.</a:t>
            </a:r>
          </a:p>
          <a:p>
            <a:r>
              <a:rPr lang="en-US" dirty="0"/>
              <a:t>I can talk about places in a </a:t>
            </a:r>
            <a:r>
              <a:rPr lang="en-US" dirty="0" smtClean="0"/>
              <a:t>neighborhood</a:t>
            </a:r>
            <a:r>
              <a:rPr lang="en-US" dirty="0"/>
              <a:t>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Time to review some places in the neighborhood!</a:t>
            </a: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sz="quarter" idx="18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837" y="3587402"/>
            <a:ext cx="2497148" cy="2387344"/>
          </a:xfrm>
        </p:spPr>
      </p:pic>
      <p:sp>
        <p:nvSpPr>
          <p:cNvPr id="8" name="Rectangle 7"/>
          <p:cNvSpPr/>
          <p:nvPr/>
        </p:nvSpPr>
        <p:spPr>
          <a:xfrm>
            <a:off x="1840316" y="209034"/>
            <a:ext cx="283328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Where Is the Dry Cleaner?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79277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/>
          <p:cNvPicPr>
            <a:picLocks noGrp="1" noChangeAspect="1"/>
          </p:cNvPicPr>
          <p:nvPr>
            <p:ph type="pic" sz="quarter" idx="18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133" y="1877027"/>
            <a:ext cx="3194251" cy="2561623"/>
          </a:xfrm>
        </p:spPr>
      </p:pic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Vanessa: </a:t>
            </a:r>
            <a:r>
              <a:rPr lang="en-US" b="1" dirty="0" smtClean="0"/>
              <a:t>	</a:t>
            </a:r>
            <a:r>
              <a:rPr lang="en-US" dirty="0" smtClean="0"/>
              <a:t>Where </a:t>
            </a:r>
            <a:r>
              <a:rPr lang="en-US" dirty="0"/>
              <a:t>is the dry cleaner, Peter? </a:t>
            </a:r>
          </a:p>
          <a:p>
            <a:r>
              <a:rPr lang="en-US" b="1" dirty="0"/>
              <a:t>Peter: </a:t>
            </a:r>
            <a:r>
              <a:rPr lang="en-US" b="1" dirty="0" smtClean="0"/>
              <a:t>	</a:t>
            </a:r>
            <a:r>
              <a:rPr lang="en-US" dirty="0" smtClean="0"/>
              <a:t>Hmmm </a:t>
            </a:r>
            <a:r>
              <a:rPr lang="en-US" dirty="0"/>
              <a:t>… it isn’t near the post office. I think it’s moved. </a:t>
            </a:r>
          </a:p>
          <a:p>
            <a:r>
              <a:rPr lang="en-US" b="1" dirty="0"/>
              <a:t>Vanessa: </a:t>
            </a:r>
            <a:r>
              <a:rPr lang="en-US" b="1" dirty="0" smtClean="0"/>
              <a:t>	</a:t>
            </a:r>
            <a:r>
              <a:rPr lang="en-US" dirty="0" smtClean="0"/>
              <a:t>We </a:t>
            </a:r>
            <a:r>
              <a:rPr lang="en-US" dirty="0"/>
              <a:t>should ask someone. Excuse me, can you help us</a:t>
            </a:r>
            <a:r>
              <a:rPr lang="en-US" dirty="0" smtClean="0"/>
              <a:t>?</a:t>
            </a:r>
          </a:p>
          <a:p>
            <a:endParaRPr lang="en-US" dirty="0"/>
          </a:p>
          <a:p>
            <a:r>
              <a:rPr lang="en-US" b="1" dirty="0"/>
              <a:t>Passerby: </a:t>
            </a:r>
            <a:r>
              <a:rPr lang="en-US" b="1" dirty="0" smtClean="0"/>
              <a:t>	</a:t>
            </a:r>
            <a:r>
              <a:rPr lang="en-US" dirty="0" smtClean="0"/>
              <a:t>Huh</a:t>
            </a:r>
            <a:r>
              <a:rPr lang="en-US" dirty="0"/>
              <a:t>-huh, sure...</a:t>
            </a:r>
          </a:p>
          <a:p>
            <a:r>
              <a:rPr lang="en-US" b="1" dirty="0"/>
              <a:t>Vanessa: </a:t>
            </a:r>
            <a:r>
              <a:rPr lang="en-US" b="1" dirty="0" smtClean="0"/>
              <a:t>	</a:t>
            </a:r>
            <a:r>
              <a:rPr lang="en-US" dirty="0" smtClean="0"/>
              <a:t>Where </a:t>
            </a:r>
            <a:r>
              <a:rPr lang="en-US" dirty="0"/>
              <a:t>is the dry cleaner?</a:t>
            </a:r>
          </a:p>
          <a:p>
            <a:r>
              <a:rPr lang="en-US" b="1" dirty="0"/>
              <a:t>Passerby: </a:t>
            </a:r>
            <a:r>
              <a:rPr lang="en-US" b="1" dirty="0" smtClean="0"/>
              <a:t>	</a:t>
            </a:r>
            <a:r>
              <a:rPr lang="en-US" dirty="0" smtClean="0"/>
              <a:t>Which </a:t>
            </a:r>
            <a:r>
              <a:rPr lang="en-US" dirty="0"/>
              <a:t>one? There are two in the neighborhood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/>
              <a:t>Peter: </a:t>
            </a:r>
            <a:r>
              <a:rPr lang="en-US" b="1" dirty="0" smtClean="0"/>
              <a:t>	</a:t>
            </a:r>
            <a:r>
              <a:rPr lang="en-US" dirty="0" smtClean="0"/>
              <a:t>Really</a:t>
            </a:r>
            <a:r>
              <a:rPr lang="en-US" dirty="0"/>
              <a:t>?</a:t>
            </a:r>
          </a:p>
          <a:p>
            <a:r>
              <a:rPr lang="en-US" b="1" dirty="0"/>
              <a:t>Passerby: </a:t>
            </a:r>
            <a:r>
              <a:rPr lang="en-US" b="1" dirty="0" smtClean="0"/>
              <a:t>	</a:t>
            </a:r>
            <a:r>
              <a:rPr lang="en-US" dirty="0" smtClean="0"/>
              <a:t>Yes</a:t>
            </a:r>
            <a:r>
              <a:rPr lang="en-US" dirty="0"/>
              <a:t>, there is one in the mall. There is another one near the drugstore.</a:t>
            </a:r>
          </a:p>
          <a:p>
            <a:r>
              <a:rPr lang="en-US" b="1" dirty="0"/>
              <a:t>Vanessa: </a:t>
            </a:r>
            <a:r>
              <a:rPr lang="en-US" b="1" dirty="0" smtClean="0"/>
              <a:t>	</a:t>
            </a:r>
            <a:r>
              <a:rPr lang="en-US" dirty="0" smtClean="0"/>
              <a:t>How </a:t>
            </a:r>
            <a:r>
              <a:rPr lang="en-US" dirty="0"/>
              <a:t>do we get to the dry cleaner near the drugstore</a:t>
            </a:r>
            <a:r>
              <a:rPr lang="en-US" dirty="0" smtClean="0"/>
              <a:t>?</a:t>
            </a:r>
          </a:p>
          <a:p>
            <a:endParaRPr lang="en-US" dirty="0"/>
          </a:p>
          <a:p>
            <a:r>
              <a:rPr lang="en-US" b="1" dirty="0"/>
              <a:t>Passerby: </a:t>
            </a:r>
            <a:r>
              <a:rPr lang="en-US" b="1" dirty="0" smtClean="0"/>
              <a:t>	</a:t>
            </a:r>
            <a:r>
              <a:rPr lang="en-US" dirty="0" smtClean="0"/>
              <a:t>Walk </a:t>
            </a:r>
            <a:r>
              <a:rPr lang="en-US" dirty="0"/>
              <a:t>straight ahead. Turn right on Main Street. </a:t>
            </a:r>
          </a:p>
          <a:p>
            <a:r>
              <a:rPr lang="en-US" b="1" dirty="0"/>
              <a:t>Peter: </a:t>
            </a:r>
            <a:r>
              <a:rPr lang="en-US" b="1" dirty="0" smtClean="0"/>
              <a:t>	</a:t>
            </a:r>
            <a:r>
              <a:rPr lang="en-US" dirty="0" err="1" smtClean="0"/>
              <a:t>Mmmhmm</a:t>
            </a:r>
            <a:r>
              <a:rPr lang="en-US" dirty="0"/>
              <a:t>.</a:t>
            </a:r>
          </a:p>
          <a:p>
            <a:r>
              <a:rPr lang="en-US" b="1" dirty="0"/>
              <a:t>Passerby: </a:t>
            </a:r>
            <a:r>
              <a:rPr lang="en-US" b="1" dirty="0" smtClean="0"/>
              <a:t>	</a:t>
            </a:r>
            <a:r>
              <a:rPr lang="en-US" dirty="0" smtClean="0"/>
              <a:t>Then</a:t>
            </a:r>
            <a:r>
              <a:rPr lang="en-US" dirty="0"/>
              <a:t>, turn right on Park Street, at the bakery. You should see the </a:t>
            </a:r>
            <a:r>
              <a:rPr lang="en-US" dirty="0" smtClean="0"/>
              <a:t>	hotel.</a:t>
            </a:r>
          </a:p>
          <a:p>
            <a:endParaRPr lang="en-US" dirty="0"/>
          </a:p>
          <a:p>
            <a:r>
              <a:rPr lang="en-US" b="1" dirty="0"/>
              <a:t>Vanessa: </a:t>
            </a:r>
            <a:r>
              <a:rPr lang="en-US" b="1" dirty="0" smtClean="0"/>
              <a:t>	</a:t>
            </a:r>
            <a:r>
              <a:rPr lang="en-US" dirty="0" smtClean="0"/>
              <a:t>Right</a:t>
            </a:r>
            <a:r>
              <a:rPr lang="en-US" dirty="0"/>
              <a:t>. Okay. </a:t>
            </a:r>
          </a:p>
          <a:p>
            <a:r>
              <a:rPr lang="en-US" b="1" dirty="0"/>
              <a:t>Passerby: </a:t>
            </a:r>
            <a:r>
              <a:rPr lang="en-US" b="1" dirty="0" smtClean="0"/>
              <a:t>	</a:t>
            </a:r>
            <a:r>
              <a:rPr lang="en-US" dirty="0" smtClean="0"/>
              <a:t>It’s </a:t>
            </a:r>
            <a:r>
              <a:rPr lang="en-US" dirty="0"/>
              <a:t>across the street from the hotel. It is between the drugstore and </a:t>
            </a:r>
            <a:r>
              <a:rPr lang="en-US" dirty="0" smtClean="0"/>
              <a:t>  	the </a:t>
            </a:r>
            <a:r>
              <a:rPr lang="en-US" dirty="0"/>
              <a:t>deli.</a:t>
            </a:r>
          </a:p>
          <a:p>
            <a:r>
              <a:rPr lang="en-US" b="1" dirty="0"/>
              <a:t>Peter: </a:t>
            </a:r>
            <a:r>
              <a:rPr lang="en-US" b="1" dirty="0" smtClean="0"/>
              <a:t>	</a:t>
            </a:r>
            <a:r>
              <a:rPr lang="en-US" dirty="0" smtClean="0"/>
              <a:t>Thanks </a:t>
            </a:r>
            <a:r>
              <a:rPr lang="en-US" dirty="0"/>
              <a:t>for your help!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 smtClean="0"/>
              <a:t>Instructions: Read the dialogue aloud.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/>
            <a:r>
              <a:rPr lang="en-US" dirty="0"/>
              <a:t>Vanessa and Peter want to go to </a:t>
            </a:r>
            <a:r>
              <a:rPr lang="en-US" dirty="0" smtClean="0"/>
              <a:t>the dry cleaner. Do they know where to go? Let’s find out.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832133" y="217852"/>
            <a:ext cx="22420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</a:rPr>
              <a:t>Where Is the Dry Cleaner? </a:t>
            </a:r>
          </a:p>
        </p:txBody>
      </p:sp>
    </p:spTree>
    <p:extLst>
      <p:ext uri="{BB962C8B-B14F-4D97-AF65-F5344CB8AC3E}">
        <p14:creationId xmlns:p14="http://schemas.microsoft.com/office/powerpoint/2010/main" val="3215049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9"/>
          </p:nvPr>
        </p:nvSpPr>
        <p:spPr>
          <a:xfrm>
            <a:off x="482600" y="1823058"/>
            <a:ext cx="5848350" cy="228600"/>
          </a:xfrm>
        </p:spPr>
        <p:txBody>
          <a:bodyPr/>
          <a:lstStyle/>
          <a:p>
            <a:r>
              <a:rPr lang="en-CA" dirty="0"/>
              <a:t>Instructions: Select the correct answer.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fontAlgn="t"/>
            <a:r>
              <a:rPr lang="en-US" dirty="0" smtClean="0"/>
              <a:t>Did </a:t>
            </a:r>
            <a:r>
              <a:rPr lang="en-US" dirty="0"/>
              <a:t>you understand the dialogue? Let’s find out!</a:t>
            </a:r>
            <a:endParaRPr lang="en-US" dirty="0">
              <a:effectLst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0"/>
          </p:nvPr>
        </p:nvSpPr>
        <p:spPr>
          <a:xfrm>
            <a:off x="482600" y="5286026"/>
            <a:ext cx="5848350" cy="228600"/>
          </a:xfrm>
        </p:spPr>
        <p:txBody>
          <a:bodyPr/>
          <a:lstStyle/>
          <a:p>
            <a:r>
              <a:rPr lang="en-CA"/>
              <a:t>Instructions: Find and fix the mistake. </a:t>
            </a:r>
            <a:r>
              <a:rPr lang="en-CA" dirty="0"/>
              <a:t>Each sentence has 1 mistake.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pPr fontAlgn="t"/>
            <a:r>
              <a:rPr lang="en-US" dirty="0" smtClean="0"/>
              <a:t>Can </a:t>
            </a:r>
            <a:r>
              <a:rPr lang="en-US" dirty="0"/>
              <a:t>you spot the mistakes? Let’s see!</a:t>
            </a:r>
            <a:endParaRPr lang="en-US" dirty="0">
              <a:effectLst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32133" y="217852"/>
            <a:ext cx="22420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</a:rPr>
              <a:t>Where Is the Dry Cleaner?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887" y="2185407"/>
            <a:ext cx="286503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40000"/>
              </a:lnSpc>
              <a:buFont typeface="+mj-lt"/>
              <a:buAutoNum type="arabicPeriod"/>
            </a:pPr>
            <a:r>
              <a:rPr lang="en-US" sz="1200" dirty="0" smtClean="0"/>
              <a:t>How many dry cleaners are there in the neighborhood?</a:t>
            </a:r>
          </a:p>
          <a:p>
            <a:pPr marL="228600" indent="-228600">
              <a:lnSpc>
                <a:spcPct val="140000"/>
              </a:lnSpc>
              <a:buFont typeface="+mj-lt"/>
              <a:buAutoNum type="arabicPeriod"/>
            </a:pPr>
            <a:endParaRPr lang="en-US" sz="1200" dirty="0"/>
          </a:p>
          <a:p>
            <a:pPr marL="228600" indent="-228600">
              <a:lnSpc>
                <a:spcPct val="140000"/>
              </a:lnSpc>
              <a:buFont typeface="Wingdings" charset="2"/>
              <a:buChar char="q"/>
            </a:pPr>
            <a:r>
              <a:rPr lang="en-US" sz="1200" dirty="0" smtClean="0"/>
              <a:t>1</a:t>
            </a:r>
          </a:p>
          <a:p>
            <a:pPr marL="228600" indent="-228600">
              <a:lnSpc>
                <a:spcPct val="140000"/>
              </a:lnSpc>
              <a:buFont typeface="Wingdings" charset="2"/>
              <a:buChar char="q"/>
            </a:pPr>
            <a:r>
              <a:rPr lang="en-US" sz="1200" dirty="0" smtClean="0"/>
              <a:t>2</a:t>
            </a:r>
          </a:p>
          <a:p>
            <a:pPr marL="228600" indent="-228600">
              <a:lnSpc>
                <a:spcPct val="140000"/>
              </a:lnSpc>
              <a:buFont typeface="Wingdings" charset="2"/>
              <a:buChar char="q"/>
            </a:pPr>
            <a:r>
              <a:rPr lang="en-US" sz="1200" dirty="0" smtClean="0"/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1927" y="2214940"/>
            <a:ext cx="2894574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 startAt="2"/>
            </a:pPr>
            <a:r>
              <a:rPr lang="en-US" sz="1200" dirty="0" smtClean="0"/>
              <a:t>Where is the dry cleaner?</a:t>
            </a:r>
          </a:p>
          <a:p>
            <a:pPr marL="228600" indent="-228600">
              <a:buAutoNum type="arabicPeriod" startAt="2"/>
            </a:pPr>
            <a:endParaRPr lang="en-US" sz="1200" dirty="0"/>
          </a:p>
          <a:p>
            <a:pPr marL="228600" indent="-228600">
              <a:lnSpc>
                <a:spcPct val="130000"/>
              </a:lnSpc>
              <a:buFont typeface="Wingdings" charset="2"/>
              <a:buChar char="q"/>
            </a:pPr>
            <a:r>
              <a:rPr lang="en-US" sz="1200" dirty="0" smtClean="0"/>
              <a:t>It is between the drugstore and the bookstore.</a:t>
            </a:r>
          </a:p>
          <a:p>
            <a:pPr marL="228600" indent="-228600">
              <a:lnSpc>
                <a:spcPct val="130000"/>
              </a:lnSpc>
              <a:buFont typeface="Wingdings" charset="2"/>
              <a:buChar char="q"/>
            </a:pPr>
            <a:r>
              <a:rPr lang="en-US" sz="1200" dirty="0" smtClean="0"/>
              <a:t>It is between the drugstore and the post office.</a:t>
            </a:r>
          </a:p>
          <a:p>
            <a:pPr marL="228600" indent="-228600">
              <a:lnSpc>
                <a:spcPct val="130000"/>
              </a:lnSpc>
              <a:buFont typeface="Wingdings" charset="2"/>
              <a:buChar char="q"/>
            </a:pPr>
            <a:r>
              <a:rPr lang="en-US" sz="1200" dirty="0" smtClean="0"/>
              <a:t>It is between the drugstore and the bakery.</a:t>
            </a:r>
            <a:endParaRPr 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516889" y="5699774"/>
            <a:ext cx="5700540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50000"/>
              </a:lnSpc>
            </a:pPr>
            <a:r>
              <a:rPr lang="en-US" sz="1200" dirty="0" smtClean="0"/>
              <a:t>1.</a:t>
            </a:r>
            <a:r>
              <a:rPr lang="en-US" sz="1200" b="1" dirty="0" smtClean="0"/>
              <a:t> Vanessa</a:t>
            </a:r>
            <a:r>
              <a:rPr lang="en-US" sz="1200" dirty="0" smtClean="0"/>
              <a:t>: Where is the dry </a:t>
            </a:r>
            <a:r>
              <a:rPr lang="en-US" sz="1200" dirty="0" err="1" smtClean="0"/>
              <a:t>kleenex</a:t>
            </a:r>
            <a:r>
              <a:rPr lang="en-US" sz="1200" dirty="0" smtClean="0"/>
              <a:t>, Peter?</a:t>
            </a:r>
          </a:p>
          <a:p>
            <a:pPr>
              <a:lnSpc>
                <a:spcPct val="250000"/>
              </a:lnSpc>
            </a:pPr>
            <a:r>
              <a:rPr lang="en-US" sz="1200" dirty="0" smtClean="0"/>
              <a:t>2.</a:t>
            </a:r>
            <a:r>
              <a:rPr lang="en-US" sz="1200" b="1" dirty="0" smtClean="0"/>
              <a:t> Peter</a:t>
            </a:r>
            <a:r>
              <a:rPr lang="en-US" sz="1200" dirty="0" smtClean="0"/>
              <a:t>: Hmmm… it isn’t near the pest office.</a:t>
            </a:r>
          </a:p>
          <a:p>
            <a:pPr>
              <a:lnSpc>
                <a:spcPct val="250000"/>
              </a:lnSpc>
            </a:pPr>
            <a:r>
              <a:rPr lang="en-US" sz="1200" dirty="0" smtClean="0"/>
              <a:t>3.</a:t>
            </a:r>
            <a:r>
              <a:rPr lang="en-US" sz="1200" b="1" dirty="0" smtClean="0"/>
              <a:t> Passerby</a:t>
            </a:r>
            <a:r>
              <a:rPr lang="en-US" sz="1200" dirty="0" smtClean="0"/>
              <a:t>: Walk state ahead. Turn right on Main street.</a:t>
            </a:r>
          </a:p>
          <a:p>
            <a:pPr>
              <a:lnSpc>
                <a:spcPct val="250000"/>
              </a:lnSpc>
            </a:pPr>
            <a:r>
              <a:rPr lang="en-US" sz="1200" dirty="0" smtClean="0"/>
              <a:t>4.</a:t>
            </a:r>
            <a:r>
              <a:rPr lang="en-US" sz="1200" b="1" dirty="0" smtClean="0"/>
              <a:t> Passerby</a:t>
            </a:r>
            <a:r>
              <a:rPr lang="en-US" sz="1200" dirty="0" smtClean="0"/>
              <a:t>: Then, turn right on Park Street, at the </a:t>
            </a:r>
            <a:r>
              <a:rPr lang="en-US" sz="1200" dirty="0" err="1" smtClean="0"/>
              <a:t>backery</a:t>
            </a:r>
            <a:r>
              <a:rPr lang="en-US" sz="1200" dirty="0" smtClean="0"/>
              <a:t>. You</a:t>
            </a:r>
          </a:p>
          <a:p>
            <a:pPr>
              <a:lnSpc>
                <a:spcPct val="250000"/>
              </a:lnSpc>
            </a:pPr>
            <a:r>
              <a:rPr lang="en-US" sz="1200" dirty="0"/>
              <a:t> </a:t>
            </a:r>
            <a:r>
              <a:rPr lang="en-US" sz="1200" dirty="0" smtClean="0"/>
              <a:t>                    should see the hotel.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6017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/>
          <p:cNvSpPr txBox="1"/>
          <p:nvPr/>
        </p:nvSpPr>
        <p:spPr>
          <a:xfrm>
            <a:off x="512115" y="2558670"/>
            <a:ext cx="2910594" cy="147988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228600" lvl="0" indent="-228600" defTabSz="685800">
              <a:lnSpc>
                <a:spcPct val="90000"/>
              </a:lnSpc>
              <a:buFont typeface="+mj-lt"/>
              <a:buAutoNum type="alphaLcParenR"/>
            </a:pPr>
            <a:r>
              <a:rPr lang="en-US" sz="1000" dirty="0"/>
              <a:t>Draw a map of your </a:t>
            </a:r>
            <a:r>
              <a:rPr lang="en-US" sz="1000" dirty="0" smtClean="0"/>
              <a:t>neighborhood Include </a:t>
            </a:r>
            <a:r>
              <a:rPr lang="en-US" sz="1000" dirty="0"/>
              <a:t>10 </a:t>
            </a:r>
            <a:r>
              <a:rPr lang="en-US" sz="1000" dirty="0" smtClean="0"/>
              <a:t>places.</a:t>
            </a:r>
            <a:r>
              <a:rPr lang="en-CA" sz="1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/>
            </a:r>
            <a:br>
              <a:rPr lang="en-CA" sz="1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</a:br>
            <a:endParaRPr lang="en-CA" sz="1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  <a:buFont typeface="+mj-lt"/>
              <a:buAutoNum type="alphaLcParenR"/>
            </a:pPr>
            <a:r>
              <a:rPr lang="en-CA" sz="1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Write 5 sentences to describe 5 places on the map.</a:t>
            </a:r>
          </a:p>
          <a:p>
            <a:pPr marL="228600" lvl="0" indent="-228600" algn="l" defTabSz="685800">
              <a:lnSpc>
                <a:spcPct val="90000"/>
              </a:lnSpc>
              <a:buFont typeface="+mj-lt"/>
              <a:buAutoNum type="alphaLcParenR"/>
            </a:pP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  <a:buFont typeface="+mj-lt"/>
              <a:buAutoNum type="alphaLcParenR"/>
            </a:pPr>
            <a:r>
              <a:rPr lang="en-CA" sz="1000" dirty="0"/>
              <a:t>Use 1 preposition of place for each of the sentences.</a:t>
            </a:r>
            <a:endParaRPr lang="en-CA" sz="1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algn="l" defTabSz="685800">
              <a:lnSpc>
                <a:spcPct val="90000"/>
              </a:lnSpc>
              <a:buFont typeface="+mj-lt"/>
              <a:buAutoNum type="alphaLcParenR"/>
            </a:pPr>
            <a:endParaRPr lang="en-CA" sz="1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  <a:p>
            <a:pPr marL="228600" lvl="0" indent="-228600" defTabSz="685800">
              <a:lnSpc>
                <a:spcPct val="90000"/>
              </a:lnSpc>
              <a:buFont typeface="+mj-lt"/>
              <a:buAutoNum type="alphaLcParenR"/>
            </a:pPr>
            <a:r>
              <a:rPr lang="en-CA" sz="1000" dirty="0"/>
              <a:t>Use at least 3 Target </a:t>
            </a:r>
            <a:r>
              <a:rPr lang="en-CA" sz="1000" dirty="0" smtClean="0"/>
              <a:t>Words</a:t>
            </a:r>
            <a:r>
              <a:rPr lang="en-CA" sz="1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.</a:t>
            </a:r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Myriad Pro"/>
            </a:endParaRPr>
          </a:p>
        </p:txBody>
      </p:sp>
      <p:grpSp>
        <p:nvGrpSpPr>
          <p:cNvPr id="3" name="Grupo 1"/>
          <p:cNvGrpSpPr/>
          <p:nvPr/>
        </p:nvGrpSpPr>
        <p:grpSpPr>
          <a:xfrm>
            <a:off x="3578918" y="2406282"/>
            <a:ext cx="2910781" cy="1892667"/>
            <a:chOff x="3448051" y="2431712"/>
            <a:chExt cx="2904574" cy="1888630"/>
          </a:xfrm>
        </p:grpSpPr>
        <p:grpSp>
          <p:nvGrpSpPr>
            <p:cNvPr id="4" name="Group 5"/>
            <p:cNvGrpSpPr/>
            <p:nvPr/>
          </p:nvGrpSpPr>
          <p:grpSpPr>
            <a:xfrm>
              <a:off x="5507177" y="2499638"/>
              <a:ext cx="701770" cy="1635142"/>
              <a:chOff x="5507177" y="6290954"/>
              <a:chExt cx="701770" cy="1635142"/>
            </a:xfrm>
          </p:grpSpPr>
          <p:sp>
            <p:nvSpPr>
              <p:cNvPr id="7" name="Shape 193"/>
              <p:cNvSpPr/>
              <p:nvPr/>
            </p:nvSpPr>
            <p:spPr>
              <a:xfrm>
                <a:off x="5507177" y="6290954"/>
                <a:ext cx="280800" cy="2808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lIns="0" tIns="0" rIns="0" bIns="0" anchor="ctr"/>
              <a:lstStyle>
                <a:lvl1pPr algn="ctr">
                  <a:defRPr sz="1000" b="1">
                    <a:solidFill>
                      <a:srgbClr val="FFFFFF"/>
                    </a:solidFill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1000" b="1" dirty="0" smtClean="0">
                    <a:solidFill>
                      <a:srgbClr val="FFFFFF"/>
                    </a:solidFill>
                  </a:rPr>
                  <a:t>Y</a:t>
                </a:r>
                <a:r>
                  <a:rPr lang="en-US" sz="1000" b="1" dirty="0" smtClean="0">
                    <a:solidFill>
                      <a:srgbClr val="FFFFFF"/>
                    </a:solidFill>
                  </a:rPr>
                  <a:t>es</a:t>
                </a:r>
                <a:endParaRPr sz="1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8" name="Shape 194"/>
              <p:cNvSpPr/>
              <p:nvPr/>
            </p:nvSpPr>
            <p:spPr>
              <a:xfrm>
                <a:off x="5928147" y="6297426"/>
                <a:ext cx="280800" cy="2808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="" val="1"/>
                </a:ext>
              </a:extLst>
            </p:spPr>
            <p:txBody>
              <a:bodyPr lIns="0" tIns="0" rIns="0" bIns="0" anchor="ctr"/>
              <a:lstStyle>
                <a:lvl1pPr algn="ctr">
                  <a:defRPr sz="1000" b="1">
                    <a:solidFill>
                      <a:srgbClr val="FFFFFF"/>
                    </a:solidFill>
                  </a:defRPr>
                </a:lvl1pPr>
              </a:lstStyle>
              <a:p>
                <a:pPr lvl="0">
                  <a:defRPr sz="1800" b="0">
                    <a:solidFill>
                      <a:srgbClr val="000000"/>
                    </a:solidFill>
                  </a:defRPr>
                </a:pPr>
                <a:r>
                  <a:rPr sz="1000" b="1" dirty="0" smtClean="0">
                    <a:solidFill>
                      <a:srgbClr val="FFFFFF"/>
                    </a:solidFill>
                  </a:rPr>
                  <a:t>N</a:t>
                </a:r>
                <a:r>
                  <a:rPr lang="en-US" sz="1000" b="1" dirty="0" smtClean="0">
                    <a:solidFill>
                      <a:srgbClr val="FFFFFF"/>
                    </a:solidFill>
                  </a:rPr>
                  <a:t>o</a:t>
                </a:r>
                <a:endParaRPr sz="1000" b="1" dirty="0">
                  <a:solidFill>
                    <a:srgbClr val="FFFFFF"/>
                  </a:solidFill>
                </a:endParaRPr>
              </a:p>
            </p:txBody>
          </p:sp>
          <p:sp>
            <p:nvSpPr>
              <p:cNvPr id="9" name="Shape 200"/>
              <p:cNvSpPr/>
              <p:nvPr/>
            </p:nvSpPr>
            <p:spPr>
              <a:xfrm>
                <a:off x="5516805" y="6725831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0" name="Shape 201"/>
              <p:cNvSpPr/>
              <p:nvPr/>
            </p:nvSpPr>
            <p:spPr>
              <a:xfrm>
                <a:off x="5934497" y="6723859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1" name="Shape 202"/>
              <p:cNvSpPr/>
              <p:nvPr/>
            </p:nvSpPr>
            <p:spPr>
              <a:xfrm>
                <a:off x="5513528" y="7197999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2" name="Shape 203"/>
              <p:cNvSpPr/>
              <p:nvPr/>
            </p:nvSpPr>
            <p:spPr>
              <a:xfrm>
                <a:off x="5933101" y="7196427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3" name="Shape 204"/>
              <p:cNvSpPr/>
              <p:nvPr/>
            </p:nvSpPr>
            <p:spPr>
              <a:xfrm>
                <a:off x="5514557" y="7656096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4" name="Shape 205"/>
              <p:cNvSpPr/>
              <p:nvPr/>
            </p:nvSpPr>
            <p:spPr>
              <a:xfrm>
                <a:off x="5933102" y="7654539"/>
                <a:ext cx="269239" cy="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ln w="12700">
                <a:solidFill/>
                <a:miter lim="400000"/>
              </a:ln>
            </p:spPr>
            <p:txBody>
              <a:bodyPr lIns="0" tIns="0" rIns="0" bIns="0" anchor="ctr"/>
              <a:lstStyle/>
              <a:p>
                <a:pPr lvl="0" algn="ctr">
                  <a:defRPr sz="1000" b="1">
                    <a:solidFill>
                      <a:srgbClr val="FFFFFF"/>
                    </a:solidFill>
                  </a:defRPr>
                </a:pPr>
                <a:endParaRPr/>
              </a:p>
            </p:txBody>
          </p:sp>
        </p:grpSp>
        <p:sp>
          <p:nvSpPr>
            <p:cNvPr id="5" name="Shape 225"/>
            <p:cNvSpPr/>
            <p:nvPr/>
          </p:nvSpPr>
          <p:spPr>
            <a:xfrm>
              <a:off x="3591738" y="2602735"/>
              <a:ext cx="1774107" cy="16098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algn="l" defTabSz="685800">
                <a:buSzPct val="100000"/>
              </a:pPr>
              <a:r>
                <a:rPr lang="en-US" sz="11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Verdana"/>
                  <a:cs typeface="Verdana"/>
                </a:rPr>
                <a:t>Self Assessment</a:t>
              </a:r>
            </a:p>
            <a:p>
              <a:pPr lvl="0" defTabSz="685800">
                <a:lnSpc>
                  <a:spcPct val="80000"/>
                </a:lnSpc>
                <a:spcBef>
                  <a:spcPts val="1500"/>
                </a:spcBef>
                <a:buSzPct val="100000"/>
              </a:pPr>
              <a:r>
                <a:rPr lang="en-US" sz="1000" dirty="0"/>
                <a:t>I write 5 </a:t>
              </a:r>
              <a:r>
                <a:rPr lang="en-US" sz="1000" dirty="0" smtClean="0"/>
                <a:t>sentences about places on the map.</a:t>
              </a:r>
              <a:endParaRPr lang="en-CA" sz="1000" dirty="0" smtClean="0">
                <a:latin typeface="Verdana"/>
                <a:ea typeface="Myriad Pro"/>
                <a:cs typeface="Verdana"/>
                <a:sym typeface="Myriad Pro"/>
              </a:endParaRPr>
            </a:p>
            <a:p>
              <a:pPr lvl="0" defTabSz="685800">
                <a:lnSpc>
                  <a:spcPct val="80000"/>
                </a:lnSpc>
                <a:spcBef>
                  <a:spcPts val="1500"/>
                </a:spcBef>
                <a:buSzPct val="100000"/>
              </a:pPr>
              <a:r>
                <a:rPr lang="en-CA" sz="1000" dirty="0" smtClean="0"/>
                <a:t>I describe places in the </a:t>
              </a:r>
              <a:r>
                <a:rPr lang="en-CA" sz="1000" dirty="0" err="1" smtClean="0"/>
                <a:t>neighborhood</a:t>
              </a:r>
              <a:r>
                <a:rPr lang="en-CA" sz="1000" dirty="0" smtClean="0"/>
                <a:t>.</a:t>
              </a:r>
            </a:p>
            <a:p>
              <a:pPr lvl="0" defTabSz="685800">
                <a:lnSpc>
                  <a:spcPct val="80000"/>
                </a:lnSpc>
                <a:spcBef>
                  <a:spcPts val="1500"/>
                </a:spcBef>
                <a:buSzPct val="100000"/>
              </a:pPr>
              <a:r>
                <a:rPr lang="en-CA" sz="1000" dirty="0" smtClean="0"/>
                <a:t>I </a:t>
              </a:r>
              <a:r>
                <a:rPr lang="en-CA" sz="1000" dirty="0"/>
                <a:t>use </a:t>
              </a:r>
              <a:r>
                <a:rPr lang="en-CA" sz="1000" dirty="0" smtClean="0"/>
                <a:t>words like near, next to, across from, when describing a place.</a:t>
              </a:r>
              <a:endParaRPr lang="en-CA" sz="1000" dirty="0">
                <a:ea typeface="Myriad Pro"/>
                <a:cs typeface="Verdana"/>
                <a:sym typeface="Myriad Pro"/>
              </a:endParaRPr>
            </a:p>
          </p:txBody>
        </p:sp>
        <p:sp>
          <p:nvSpPr>
            <p:cNvPr id="6" name="Rounded Rectangle 6"/>
            <p:cNvSpPr/>
            <p:nvPr/>
          </p:nvSpPr>
          <p:spPr>
            <a:xfrm>
              <a:off x="3448051" y="2431712"/>
              <a:ext cx="2904574" cy="1888630"/>
            </a:xfrm>
            <a:prstGeom prst="roundRect">
              <a:avLst>
                <a:gd name="adj" fmla="val 11375"/>
              </a:avLst>
            </a:prstGeom>
            <a:noFill/>
            <a:ln w="12700" cap="flat">
              <a:solidFill>
                <a:schemeClr val="tx1">
                  <a:lumMod val="50000"/>
                  <a:lumOff val="50000"/>
                </a:schemeClr>
              </a:solidFill>
              <a:prstDash val="solid"/>
              <a:beve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8" tIns="45718" rIns="45718" bIns="45718" numCol="1" spcCol="38100" rtlCol="0" anchor="ctr">
              <a:spAutoFit/>
            </a:bodyPr>
            <a:lstStyle/>
            <a:p>
              <a:pPr marL="0" marR="0" indent="0" algn="l" defTabSz="9144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endParaRPr>
            </a:p>
          </p:txBody>
        </p:sp>
      </p:grpSp>
      <p:sp>
        <p:nvSpPr>
          <p:cNvPr id="15" name="Rectangle 3"/>
          <p:cNvSpPr/>
          <p:nvPr/>
        </p:nvSpPr>
        <p:spPr>
          <a:xfrm>
            <a:off x="508059" y="1556410"/>
            <a:ext cx="556876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sz="1000" dirty="0" smtClean="0">
                <a:latin typeface="Verdana"/>
                <a:cs typeface="Verdana"/>
              </a:rPr>
              <a:t>What does your neighborhood look like?</a:t>
            </a:r>
            <a:endParaRPr lang="en-US" sz="1000" dirty="0">
              <a:latin typeface="Verdana"/>
              <a:cs typeface="Verdana"/>
            </a:endParaRPr>
          </a:p>
          <a:p>
            <a:pPr algn="l" rtl="0"/>
            <a:endParaRPr lang="en-CA" sz="10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algn="l" rtl="0"/>
            <a:r>
              <a:rPr lang="en-CA" sz="1000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Instructions</a:t>
            </a:r>
            <a:r>
              <a:rPr lang="en-CA" sz="1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</a:t>
            </a:r>
            <a:r>
              <a:rPr lang="en-CA" sz="1000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Create a map of your </a:t>
            </a:r>
            <a:r>
              <a:rPr lang="en-CA" sz="1000" i="1" dirty="0" err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neighborhood</a:t>
            </a:r>
            <a:r>
              <a:rPr lang="en-CA" sz="1000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 Describe the location of places.</a:t>
            </a:r>
          </a:p>
          <a:p>
            <a:pPr algn="l" rtl="0"/>
            <a:r>
              <a:rPr lang="en-CA" sz="1000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</a:t>
            </a:r>
            <a:r>
              <a:rPr lang="en-CA" sz="1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following steps. Fill in the Self Assessment</a:t>
            </a:r>
            <a:r>
              <a:rPr lang="en-CA" sz="1000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en-CA" sz="1000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840316" y="202684"/>
            <a:ext cx="283328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Myriad Pro"/>
              </a:rPr>
              <a:t>Where Is the Dry Cleaner?</a:t>
            </a:r>
            <a:endParaRPr lang="en-US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513108" y="5619182"/>
            <a:ext cx="2616847" cy="2631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1100" b="1" dirty="0"/>
              <a:t>d</a:t>
            </a:r>
            <a:r>
              <a:rPr lang="en-US" sz="1100" b="1" dirty="0" smtClean="0"/>
              <a:t>ry </a:t>
            </a:r>
            <a:r>
              <a:rPr lang="en-US" sz="1100" b="1" dirty="0"/>
              <a:t>cleaner </a:t>
            </a:r>
            <a:r>
              <a:rPr lang="en-US" sz="1100" dirty="0"/>
              <a:t>(noun</a:t>
            </a:r>
            <a:r>
              <a:rPr lang="en-US" sz="1100" dirty="0" smtClean="0"/>
              <a:t>): a </a:t>
            </a:r>
            <a:r>
              <a:rPr lang="en-US" sz="1100" dirty="0"/>
              <a:t>place where someone cleans your clothes and fixes </a:t>
            </a:r>
            <a:r>
              <a:rPr lang="en-US" sz="1100" dirty="0" smtClean="0"/>
              <a:t>them</a:t>
            </a:r>
            <a:br>
              <a:rPr lang="en-US" sz="1100" dirty="0" smtClean="0"/>
            </a:br>
            <a:r>
              <a:rPr lang="en-US" sz="1100" dirty="0" smtClean="0"/>
              <a:t>e.g. </a:t>
            </a:r>
            <a:r>
              <a:rPr lang="en-US" sz="1100" dirty="0"/>
              <a:t>Where is the dry cleaner? I need to fix this jacket.</a:t>
            </a:r>
          </a:p>
          <a:p>
            <a:pPr marL="171450" indent="-171450">
              <a:buFont typeface="Arial"/>
              <a:buChar char="•"/>
            </a:pPr>
            <a:r>
              <a:rPr lang="en-US" sz="1100" b="1" dirty="0"/>
              <a:t>p</a:t>
            </a:r>
            <a:r>
              <a:rPr lang="en-US" sz="1100" b="1" dirty="0" smtClean="0"/>
              <a:t>ost </a:t>
            </a:r>
            <a:r>
              <a:rPr lang="en-US" sz="1100" b="1" dirty="0"/>
              <a:t>office </a:t>
            </a:r>
            <a:r>
              <a:rPr lang="en-US" sz="1100" dirty="0"/>
              <a:t>(noun</a:t>
            </a:r>
            <a:r>
              <a:rPr lang="en-US" sz="1100" dirty="0" smtClean="0"/>
              <a:t>): a </a:t>
            </a:r>
            <a:r>
              <a:rPr lang="en-US" sz="1100" dirty="0"/>
              <a:t>place where you can send letters and </a:t>
            </a:r>
            <a:r>
              <a:rPr lang="en-US" sz="1100" dirty="0" smtClean="0"/>
              <a:t>packages</a:t>
            </a:r>
            <a:br>
              <a:rPr lang="en-US" sz="1100" dirty="0" smtClean="0"/>
            </a:br>
            <a:r>
              <a:rPr lang="en-US" sz="1100" dirty="0" smtClean="0"/>
              <a:t>e.g. </a:t>
            </a:r>
            <a:r>
              <a:rPr lang="en-US" sz="1100" dirty="0"/>
              <a:t>I need to go to the post office to send a letter.</a:t>
            </a:r>
          </a:p>
          <a:p>
            <a:pPr marL="171450" indent="-171450">
              <a:buFont typeface="Arial"/>
              <a:buChar char="•"/>
            </a:pPr>
            <a:r>
              <a:rPr lang="en-US" sz="1100" b="1" dirty="0"/>
              <a:t>d</a:t>
            </a:r>
            <a:r>
              <a:rPr lang="en-US" sz="1100" b="1" dirty="0" smtClean="0"/>
              <a:t>rug </a:t>
            </a:r>
            <a:r>
              <a:rPr lang="en-US" sz="1100" b="1" dirty="0"/>
              <a:t>store </a:t>
            </a:r>
            <a:r>
              <a:rPr lang="en-US" sz="1100" dirty="0"/>
              <a:t>(noun</a:t>
            </a:r>
            <a:r>
              <a:rPr lang="en-US" sz="1100" dirty="0" smtClean="0"/>
              <a:t>): a </a:t>
            </a:r>
            <a:r>
              <a:rPr lang="en-US" sz="1100" dirty="0"/>
              <a:t>place to buy </a:t>
            </a:r>
            <a:r>
              <a:rPr lang="en-US" sz="1100" dirty="0" smtClean="0"/>
              <a:t>medicine</a:t>
            </a:r>
            <a:br>
              <a:rPr lang="en-US" sz="1100" dirty="0" smtClean="0"/>
            </a:br>
            <a:r>
              <a:rPr lang="en-US" sz="1100" dirty="0" smtClean="0"/>
              <a:t>e.g. </a:t>
            </a:r>
            <a:r>
              <a:rPr lang="en-US" sz="1100" dirty="0"/>
              <a:t>Why don’t you go to the drug store if you don’t feel good</a:t>
            </a:r>
            <a:r>
              <a:rPr lang="en-US" sz="1100" dirty="0" smtClean="0"/>
              <a:t>?</a:t>
            </a:r>
            <a:endParaRPr lang="en-US" sz="1100" dirty="0"/>
          </a:p>
        </p:txBody>
      </p:sp>
      <p:sp>
        <p:nvSpPr>
          <p:cNvPr id="17" name="TextBox 16"/>
          <p:cNvSpPr txBox="1"/>
          <p:nvPr/>
        </p:nvSpPr>
        <p:spPr>
          <a:xfrm>
            <a:off x="3424992" y="5619181"/>
            <a:ext cx="3065816" cy="2462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/>
              <a:buChar char="•"/>
            </a:pPr>
            <a:r>
              <a:rPr lang="en-US" sz="1100" b="1" dirty="0"/>
              <a:t>h</a:t>
            </a:r>
            <a:r>
              <a:rPr lang="en-US" sz="1100" b="1" dirty="0" smtClean="0"/>
              <a:t>otel</a:t>
            </a:r>
            <a:r>
              <a:rPr lang="en-US" sz="1100" dirty="0" smtClean="0"/>
              <a:t> </a:t>
            </a:r>
            <a:r>
              <a:rPr lang="en-US" sz="1100" dirty="0"/>
              <a:t>(noun</a:t>
            </a:r>
            <a:r>
              <a:rPr lang="en-US" sz="1100" dirty="0" smtClean="0"/>
              <a:t>): a </a:t>
            </a:r>
            <a:r>
              <a:rPr lang="en-US" sz="1100" dirty="0"/>
              <a:t>place where people pay to stay the night and can eat </a:t>
            </a:r>
            <a:r>
              <a:rPr lang="en-US" sz="1100" dirty="0" smtClean="0"/>
              <a:t>meals</a:t>
            </a:r>
            <a:br>
              <a:rPr lang="en-US" sz="1100" dirty="0" smtClean="0"/>
            </a:br>
            <a:r>
              <a:rPr lang="en-US" sz="1100" dirty="0" smtClean="0"/>
              <a:t>e.g. </a:t>
            </a:r>
            <a:r>
              <a:rPr lang="en-US" sz="1100" dirty="0"/>
              <a:t>The restaurant in this hotel is very good.</a:t>
            </a:r>
          </a:p>
          <a:p>
            <a:pPr marL="171450" indent="-171450">
              <a:buFont typeface="Arial"/>
              <a:buChar char="•"/>
            </a:pPr>
            <a:r>
              <a:rPr lang="en-US" sz="1100" b="1" dirty="0"/>
              <a:t>b</a:t>
            </a:r>
            <a:r>
              <a:rPr lang="en-US" sz="1100" b="1" dirty="0" smtClean="0"/>
              <a:t>akery</a:t>
            </a:r>
            <a:r>
              <a:rPr lang="en-US" sz="1100" dirty="0" smtClean="0"/>
              <a:t> </a:t>
            </a:r>
            <a:r>
              <a:rPr lang="en-US" sz="1100" dirty="0"/>
              <a:t>(noun</a:t>
            </a:r>
            <a:r>
              <a:rPr lang="en-US" sz="1100" dirty="0" smtClean="0"/>
              <a:t>): a </a:t>
            </a:r>
            <a:r>
              <a:rPr lang="en-US" sz="1100" dirty="0"/>
              <a:t>place to buy bread, </a:t>
            </a:r>
            <a:r>
              <a:rPr lang="en-US" sz="1100" dirty="0" smtClean="0"/>
              <a:t>cake</a:t>
            </a:r>
            <a:br>
              <a:rPr lang="en-US" sz="1100" dirty="0" smtClean="0"/>
            </a:br>
            <a:r>
              <a:rPr lang="en-US" sz="1100" dirty="0" smtClean="0"/>
              <a:t>e.g. </a:t>
            </a:r>
            <a:r>
              <a:rPr lang="en-US" sz="1100" dirty="0"/>
              <a:t>Sally always goes to the bakery to buy bread.</a:t>
            </a:r>
          </a:p>
          <a:p>
            <a:pPr marL="171450" indent="-171450">
              <a:buFont typeface="Arial"/>
              <a:buChar char="•"/>
            </a:pPr>
            <a:r>
              <a:rPr lang="en-US" sz="1100" b="1" dirty="0"/>
              <a:t>d</a:t>
            </a:r>
            <a:r>
              <a:rPr lang="en-US" sz="1100" b="1" dirty="0" smtClean="0"/>
              <a:t>eli</a:t>
            </a:r>
            <a:r>
              <a:rPr lang="en-US" sz="1100" dirty="0" smtClean="0"/>
              <a:t> </a:t>
            </a:r>
            <a:r>
              <a:rPr lang="en-US" sz="1100" dirty="0"/>
              <a:t>(noun</a:t>
            </a:r>
            <a:r>
              <a:rPr lang="en-US" sz="1100" dirty="0" smtClean="0"/>
              <a:t>): a </a:t>
            </a:r>
            <a:r>
              <a:rPr lang="en-US" sz="1100" dirty="0"/>
              <a:t>store selling prepared foods like sandwiches, salads, and </a:t>
            </a:r>
            <a:r>
              <a:rPr lang="en-US" sz="1100" dirty="0" smtClean="0"/>
              <a:t>drinks</a:t>
            </a:r>
            <a:br>
              <a:rPr lang="en-US" sz="1100" dirty="0" smtClean="0"/>
            </a:br>
            <a:r>
              <a:rPr lang="en-US" sz="1100" dirty="0" smtClean="0"/>
              <a:t>e.g. </a:t>
            </a:r>
            <a:r>
              <a:rPr lang="en-US" sz="1100" dirty="0"/>
              <a:t>This deli has great sandwiches.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22509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469900" y="1555750"/>
            <a:ext cx="5856472" cy="1272510"/>
          </a:xfrm>
        </p:spPr>
        <p:txBody>
          <a:bodyPr/>
          <a:lstStyle/>
          <a:p>
            <a:r>
              <a:rPr lang="en-US" b="1" dirty="0"/>
              <a:t>Describing Your </a:t>
            </a:r>
            <a:r>
              <a:rPr lang="en-US" b="1" dirty="0" smtClean="0"/>
              <a:t>Neighborhood</a:t>
            </a:r>
          </a:p>
          <a:p>
            <a:endParaRPr lang="en-US" b="1" dirty="0"/>
          </a:p>
          <a:p>
            <a:pPr marL="0" indent="0"/>
            <a:r>
              <a:rPr lang="en-CA" dirty="0"/>
              <a:t>You use </a:t>
            </a:r>
            <a:r>
              <a:rPr lang="en-CA" b="1" dirty="0" err="1"/>
              <a:t>Wh</a:t>
            </a:r>
            <a:r>
              <a:rPr lang="en-CA" b="1" dirty="0"/>
              <a:t>- questions</a:t>
            </a:r>
            <a:r>
              <a:rPr lang="en-CA" dirty="0"/>
              <a:t> to ask where places are in a city and to ask for directions.</a:t>
            </a:r>
            <a:r>
              <a:rPr lang="en-CA" dirty="0"/>
              <a:t/>
            </a:r>
            <a:br>
              <a:rPr lang="en-CA" dirty="0"/>
            </a:br>
            <a:r>
              <a:rPr lang="en-CA" dirty="0"/>
              <a:t>You describe where places are in a city with </a:t>
            </a:r>
            <a:r>
              <a:rPr lang="en-CA" b="1" dirty="0"/>
              <a:t>prepositions of place</a:t>
            </a:r>
            <a:r>
              <a:rPr lang="en-CA" dirty="0"/>
              <a:t> like </a:t>
            </a:r>
            <a:r>
              <a:rPr lang="en-CA" i="1" dirty="0"/>
              <a:t>near, next to, across from, between</a:t>
            </a:r>
            <a:r>
              <a:rPr lang="en-CA" dirty="0"/>
              <a:t> and Imperatives.</a:t>
            </a:r>
            <a:endParaRPr lang="en-US" dirty="0"/>
          </a:p>
        </p:txBody>
      </p:sp>
      <p:sp>
        <p:nvSpPr>
          <p:cNvPr id="4" name="Text Placeholder 2"/>
          <p:cNvSpPr txBox="1">
            <a:spLocks/>
          </p:cNvSpPr>
          <p:nvPr/>
        </p:nvSpPr>
        <p:spPr>
          <a:xfrm>
            <a:off x="622299" y="5018653"/>
            <a:ext cx="5225591" cy="106240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/>
              <a:buNone/>
              <a:defRPr sz="1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Examples</a:t>
            </a:r>
          </a:p>
          <a:p>
            <a:pPr marL="171450" indent="-171450">
              <a:buFont typeface="Arial"/>
              <a:buChar char="•"/>
            </a:pPr>
            <a:r>
              <a:rPr lang="en-US" b="1" i="1" dirty="0"/>
              <a:t>Vanessa: Where </a:t>
            </a:r>
            <a:r>
              <a:rPr lang="en-US" i="1" dirty="0"/>
              <a:t>is the drugstore?</a:t>
            </a:r>
          </a:p>
          <a:p>
            <a:pPr marL="171450" indent="-171450">
              <a:buFont typeface="Arial"/>
              <a:buChar char="•"/>
            </a:pPr>
            <a:r>
              <a:rPr lang="en-US" b="1" i="1" dirty="0"/>
              <a:t>Peter: </a:t>
            </a:r>
            <a:r>
              <a:rPr lang="en-US" i="1" dirty="0"/>
              <a:t>The drugstore is</a:t>
            </a:r>
            <a:r>
              <a:rPr lang="en-US" b="1" i="1" dirty="0"/>
              <a:t> near </a:t>
            </a:r>
            <a:r>
              <a:rPr lang="en-US" i="1" dirty="0"/>
              <a:t>the post office.</a:t>
            </a:r>
          </a:p>
          <a:p>
            <a:pPr marL="171450" indent="-171450">
              <a:buFont typeface="Arial"/>
              <a:buChar char="•"/>
            </a:pPr>
            <a:r>
              <a:rPr lang="en-US" b="1" i="1" dirty="0"/>
              <a:t>Vanessa: How</a:t>
            </a:r>
            <a:r>
              <a:rPr lang="en-US" i="1" dirty="0"/>
              <a:t> do we get to the dry cleaner?</a:t>
            </a:r>
          </a:p>
          <a:p>
            <a:pPr marL="171450" indent="-171450">
              <a:buFont typeface="Arial"/>
              <a:buChar char="•"/>
            </a:pPr>
            <a:r>
              <a:rPr lang="en-US" b="1" i="1" dirty="0" smtClean="0"/>
              <a:t>Peter: </a:t>
            </a:r>
            <a:r>
              <a:rPr lang="en-US" b="1" i="1" dirty="0"/>
              <a:t>Go </a:t>
            </a:r>
            <a:r>
              <a:rPr lang="en-US" i="1" dirty="0"/>
              <a:t>straight ahead, and </a:t>
            </a:r>
            <a:r>
              <a:rPr lang="en-US" b="1" i="1" dirty="0"/>
              <a:t>turn</a:t>
            </a:r>
            <a:r>
              <a:rPr lang="en-US" i="1" dirty="0"/>
              <a:t> right at the intersection.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1836213" y="205020"/>
            <a:ext cx="224202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</a:rPr>
              <a:t>Where </a:t>
            </a:r>
            <a:r>
              <a:rPr lang="en-US" sz="1200" dirty="0" smtClean="0">
                <a:solidFill>
                  <a:srgbClr val="FFFFFF"/>
                </a:solidFill>
              </a:rPr>
              <a:t>Is </a:t>
            </a:r>
            <a:r>
              <a:rPr lang="en-US" sz="1200" dirty="0">
                <a:solidFill>
                  <a:srgbClr val="FFFFFF"/>
                </a:solidFill>
              </a:rPr>
              <a:t>the Dry Cleaner?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3116201"/>
              </p:ext>
            </p:extLst>
          </p:nvPr>
        </p:nvGraphicFramePr>
        <p:xfrm>
          <a:off x="707064" y="3016102"/>
          <a:ext cx="5321595" cy="1468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57941"/>
                <a:gridCol w="2094614"/>
                <a:gridCol w="2169040"/>
              </a:tblGrid>
              <a:tr h="370840">
                <a:tc>
                  <a:txBody>
                    <a:bodyPr/>
                    <a:lstStyle/>
                    <a:p>
                      <a:r>
                        <a:rPr lang="en-CA" sz="1100" dirty="0" smtClean="0">
                          <a:solidFill>
                            <a:schemeClr val="tx1"/>
                          </a:solidFill>
                        </a:rPr>
                        <a:t>Place</a:t>
                      </a:r>
                      <a:endParaRPr lang="en-CA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100" dirty="0" smtClean="0">
                          <a:solidFill>
                            <a:schemeClr val="tx1"/>
                          </a:solidFill>
                        </a:rPr>
                        <a:t>Asking</a:t>
                      </a:r>
                      <a:r>
                        <a:rPr lang="en-CA" sz="1100" baseline="0" dirty="0" smtClean="0">
                          <a:solidFill>
                            <a:schemeClr val="tx1"/>
                          </a:solidFill>
                        </a:rPr>
                        <a:t> for Directions</a:t>
                      </a:r>
                      <a:endParaRPr lang="en-CA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100" dirty="0" smtClean="0">
                          <a:solidFill>
                            <a:schemeClr val="tx1"/>
                          </a:solidFill>
                        </a:rPr>
                        <a:t>Giving</a:t>
                      </a:r>
                      <a:r>
                        <a:rPr lang="en-CA" sz="1100" baseline="0" dirty="0" smtClean="0">
                          <a:solidFill>
                            <a:schemeClr val="tx1"/>
                          </a:solidFill>
                        </a:rPr>
                        <a:t> Directions</a:t>
                      </a:r>
                      <a:endParaRPr lang="en-CA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CA" sz="1100" dirty="0" smtClean="0"/>
                        <a:t>Bakery</a:t>
                      </a:r>
                    </a:p>
                    <a:p>
                      <a:endParaRPr lang="en-CA" sz="1100" dirty="0" smtClean="0"/>
                    </a:p>
                    <a:p>
                      <a:endParaRPr lang="en-CA" sz="1100" dirty="0" smtClean="0"/>
                    </a:p>
                    <a:p>
                      <a:r>
                        <a:rPr lang="en-CA" sz="1100" smtClean="0"/>
                        <a:t>Library</a:t>
                      </a:r>
                      <a:endParaRPr lang="en-CA" sz="1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100" dirty="0" smtClean="0">
                          <a:solidFill>
                            <a:schemeClr val="tx1"/>
                          </a:solidFill>
                        </a:rPr>
                        <a:t>Where</a:t>
                      </a:r>
                      <a:r>
                        <a:rPr lang="en-CA" sz="1100" baseline="0" dirty="0" smtClean="0">
                          <a:solidFill>
                            <a:schemeClr val="tx1"/>
                          </a:solidFill>
                        </a:rPr>
                        <a:t> is the bakery?</a:t>
                      </a:r>
                    </a:p>
                    <a:p>
                      <a:endParaRPr lang="en-CA" sz="11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endParaRPr lang="en-CA" sz="11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CA" sz="1100" baseline="0" dirty="0" smtClean="0">
                          <a:solidFill>
                            <a:schemeClr val="tx1"/>
                          </a:solidFill>
                        </a:rPr>
                        <a:t>How do I get to the library?</a:t>
                      </a:r>
                      <a:endParaRPr lang="en-CA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CA" sz="1100" dirty="0" smtClean="0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en-CA" sz="1100" baseline="0" dirty="0" smtClean="0">
                          <a:solidFill>
                            <a:schemeClr val="tx1"/>
                          </a:solidFill>
                        </a:rPr>
                        <a:t> bakery is next to the library.</a:t>
                      </a:r>
                    </a:p>
                    <a:p>
                      <a:endParaRPr lang="en-CA" sz="1100" baseline="0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CA" sz="1100" baseline="0" dirty="0" smtClean="0">
                          <a:solidFill>
                            <a:schemeClr val="tx1"/>
                          </a:solidFill>
                        </a:rPr>
                        <a:t>Go straight on this street. Turn left at the lights.</a:t>
                      </a:r>
                    </a:p>
                    <a:p>
                      <a:endParaRPr lang="en-CA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0462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="" val="1"/>
          </a:ext>
        </a:extLst>
      </a:spPr>
      <a:bodyPr wrap="square" lIns="0" tIns="0" rIns="0" bIns="0">
        <a:spAutoFit/>
      </a:bodyPr>
      <a:lstStyle>
        <a:defPPr marL="110289" indent="-110289" defTabSz="685800">
          <a:spcAft>
            <a:spcPts val="200"/>
          </a:spcAft>
          <a:buSzPct val="100000"/>
          <a:buChar char="•"/>
          <a:defRPr sz="1000" b="1" dirty="0" smtClean="0"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  <a:sym typeface="Myriad Pro Semibold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1844</TotalTime>
  <Words>479</Words>
  <Application>Microsoft Office PowerPoint</Application>
  <PresentationFormat>On-screen Show (4:3)</PresentationFormat>
  <Paragraphs>97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Arial</vt:lpstr>
      <vt:lpstr>Calibri</vt:lpstr>
      <vt:lpstr>Helvetica</vt:lpstr>
      <vt:lpstr>Helvetica Neue</vt:lpstr>
      <vt:lpstr>Myriad Pro</vt:lpstr>
      <vt:lpstr>Myriad Pro Semibold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Aamir</dc:creator>
  <cp:lastModifiedBy>Natalie Ryan</cp:lastModifiedBy>
  <cp:revision>134</cp:revision>
  <cp:lastPrinted>2015-07-16T15:48:24Z</cp:lastPrinted>
  <dcterms:created xsi:type="dcterms:W3CDTF">2015-07-06T14:08:02Z</dcterms:created>
  <dcterms:modified xsi:type="dcterms:W3CDTF">2015-08-04T18:45:35Z</dcterms:modified>
</cp:coreProperties>
</file>