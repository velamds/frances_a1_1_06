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60" r:id="rId4"/>
    <p:sldId id="258" r:id="rId5"/>
    <p:sldId id="259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694" autoAdjust="0"/>
  </p:normalViewPr>
  <p:slideViewPr>
    <p:cSldViewPr snapToGrid="0">
      <p:cViewPr>
        <p:scale>
          <a:sx n="99" d="100"/>
          <a:sy n="99" d="100"/>
        </p:scale>
        <p:origin x="-304" y="704"/>
      </p:cViewPr>
      <p:guideLst>
        <p:guide orient="horz" pos="2656"/>
        <p:guide pos="20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t>2015-07-20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t>2015-07-20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800914" y="310506"/>
              <a:ext cx="1917436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In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Park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763187" y="316856"/>
              <a:ext cx="1955163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In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Park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69900" y="46291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763187" y="316856"/>
              <a:ext cx="1955163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Park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4790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63187" y="316856"/>
              <a:ext cx="1955163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In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Park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63187" y="316856"/>
              <a:ext cx="1955163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In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Park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9952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nsi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800914" y="316856"/>
              <a:ext cx="1917436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In the Park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8810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  <p:sldLayoutId id="2147483655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Describe places, neighborhoods and countries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08000" y="7556500"/>
            <a:ext cx="2921000" cy="685800"/>
          </a:xfrm>
        </p:spPr>
        <p:txBody>
          <a:bodyPr/>
          <a:lstStyle/>
          <a:p>
            <a:r>
              <a:rPr lang="en-US" dirty="0"/>
              <a:t>Do you know your neighborhood?</a:t>
            </a:r>
          </a:p>
          <a:p>
            <a:r>
              <a:rPr lang="en-US" dirty="0"/>
              <a:t>Is there a park?</a:t>
            </a:r>
          </a:p>
          <a:p>
            <a:r>
              <a:rPr lang="en-US" dirty="0"/>
              <a:t>Where is it?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ask and say where places are in a city.</a:t>
            </a:r>
          </a:p>
          <a:p>
            <a:r>
              <a:rPr lang="en-US" dirty="0"/>
              <a:t>I can express location.</a:t>
            </a:r>
          </a:p>
          <a:p>
            <a:r>
              <a:rPr lang="en-US" dirty="0"/>
              <a:t>I describe places in a neighborhood.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There are so many things to do in the city! Let’s take a walk!</a:t>
            </a:r>
          </a:p>
        </p:txBody>
      </p:sp>
      <p:pic>
        <p:nvPicPr>
          <p:cNvPr id="7" name="Picture Placeholder 6" descr="DR1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09" r="-3909"/>
          <a:stretch>
            <a:fillRect/>
          </a:stretch>
        </p:blipFill>
        <p:spPr>
          <a:xfrm>
            <a:off x="1513665" y="3719291"/>
            <a:ext cx="4144225" cy="2425888"/>
          </a:xfrm>
        </p:spPr>
      </p:pic>
      <p:sp>
        <p:nvSpPr>
          <p:cNvPr id="8" name="Rectangle 7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Going to the Bakery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7927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DR2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314" r="-16314"/>
          <a:stretch>
            <a:fillRect/>
          </a:stretch>
        </p:blipFill>
        <p:spPr>
          <a:xfrm>
            <a:off x="1295595" y="2063057"/>
            <a:ext cx="4299811" cy="2516962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76250" y="5240685"/>
            <a:ext cx="5842000" cy="3200400"/>
          </a:xfrm>
        </p:spPr>
        <p:txBody>
          <a:bodyPr/>
          <a:lstStyle/>
          <a:p>
            <a:r>
              <a:rPr lang="en-US" b="1" dirty="0"/>
              <a:t>Vanessa: 	</a:t>
            </a:r>
            <a:r>
              <a:rPr lang="en-US" dirty="0" smtClean="0"/>
              <a:t>Hey </a:t>
            </a:r>
            <a:r>
              <a:rPr lang="en-US" dirty="0"/>
              <a:t>Peter, do you know the neighborhood well?</a:t>
            </a:r>
          </a:p>
          <a:p>
            <a:r>
              <a:rPr lang="en-US" b="1" dirty="0"/>
              <a:t>Peter:</a:t>
            </a:r>
            <a:r>
              <a:rPr lang="en-US" dirty="0"/>
              <a:t>	Yeah, sure. It’s my favorite part of town. Why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r>
              <a:rPr lang="en-US" b="1" dirty="0"/>
              <a:t>Vanessa: </a:t>
            </a:r>
            <a:r>
              <a:rPr lang="en-US" b="1" dirty="0" smtClean="0"/>
              <a:t>	</a:t>
            </a:r>
            <a:r>
              <a:rPr lang="en-US" dirty="0" smtClean="0"/>
              <a:t>Oh</a:t>
            </a:r>
            <a:r>
              <a:rPr lang="en-US" dirty="0"/>
              <a:t>. What is there to do around here? </a:t>
            </a:r>
          </a:p>
          <a:p>
            <a:r>
              <a:rPr lang="en-US" b="1" dirty="0"/>
              <a:t>Peter: </a:t>
            </a:r>
            <a:r>
              <a:rPr lang="en-US" b="1" dirty="0" smtClean="0"/>
              <a:t>	</a:t>
            </a:r>
            <a:r>
              <a:rPr lang="en-US" dirty="0" smtClean="0"/>
              <a:t>Well</a:t>
            </a:r>
            <a:r>
              <a:rPr lang="en-US" dirty="0"/>
              <a:t>, there is a park right here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Vanessa: </a:t>
            </a:r>
            <a:r>
              <a:rPr lang="en-US" b="1" dirty="0" smtClean="0"/>
              <a:t>	</a:t>
            </a:r>
            <a:r>
              <a:rPr lang="en-US" dirty="0" smtClean="0"/>
              <a:t>Yes</a:t>
            </a:r>
            <a:r>
              <a:rPr lang="en-US" dirty="0"/>
              <a:t>, the park across from the stadium on the left. </a:t>
            </a:r>
          </a:p>
          <a:p>
            <a:r>
              <a:rPr lang="en-US" b="1" dirty="0"/>
              <a:t>Peter: </a:t>
            </a:r>
            <a:r>
              <a:rPr lang="en-US" b="1" dirty="0" smtClean="0"/>
              <a:t>	</a:t>
            </a:r>
            <a:r>
              <a:rPr lang="en-US" dirty="0" smtClean="0"/>
              <a:t>Yes</a:t>
            </a:r>
            <a:r>
              <a:rPr lang="en-US" dirty="0"/>
              <a:t>, straight ahead. Then, there is the bakery, Riviera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Vanessa: </a:t>
            </a:r>
            <a:r>
              <a:rPr lang="en-US" b="1" dirty="0" smtClean="0"/>
              <a:t>	</a:t>
            </a:r>
            <a:r>
              <a:rPr lang="en-US" dirty="0" err="1" smtClean="0"/>
              <a:t>Oohh</a:t>
            </a:r>
            <a:r>
              <a:rPr lang="en-US" dirty="0"/>
              <a:t>… where is it? </a:t>
            </a:r>
          </a:p>
          <a:p>
            <a:r>
              <a:rPr lang="en-US" b="1" dirty="0"/>
              <a:t>Peter: </a:t>
            </a:r>
            <a:r>
              <a:rPr lang="en-US" b="1" dirty="0" smtClean="0"/>
              <a:t>	</a:t>
            </a:r>
            <a:r>
              <a:rPr lang="en-US" dirty="0" smtClean="0"/>
              <a:t>It’s </a:t>
            </a:r>
            <a:r>
              <a:rPr lang="en-US" dirty="0"/>
              <a:t>right there, next to the Italian restaurant, I think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Vanessa: </a:t>
            </a:r>
            <a:r>
              <a:rPr lang="en-US" b="1" dirty="0" smtClean="0"/>
              <a:t>	</a:t>
            </a:r>
            <a:r>
              <a:rPr lang="en-US" dirty="0" smtClean="0"/>
              <a:t>You </a:t>
            </a:r>
            <a:r>
              <a:rPr lang="en-US" dirty="0"/>
              <a:t>think? </a:t>
            </a:r>
          </a:p>
          <a:p>
            <a:r>
              <a:rPr lang="en-US" b="1" dirty="0"/>
              <a:t>Peter: </a:t>
            </a:r>
            <a:r>
              <a:rPr lang="en-US" b="1" dirty="0" smtClean="0"/>
              <a:t>	</a:t>
            </a:r>
            <a:r>
              <a:rPr lang="en-US" dirty="0" smtClean="0"/>
              <a:t>Well</a:t>
            </a:r>
            <a:r>
              <a:rPr lang="en-US" dirty="0"/>
              <a:t>, Sally always goes to the bakery. I usually go to the park to look </a:t>
            </a:r>
            <a:r>
              <a:rPr lang="en-US" dirty="0" smtClean="0"/>
              <a:t>	at </a:t>
            </a:r>
            <a:r>
              <a:rPr lang="en-US" dirty="0"/>
              <a:t>the trees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Vanessa: </a:t>
            </a:r>
            <a:r>
              <a:rPr lang="en-US" b="1" dirty="0" smtClean="0"/>
              <a:t>	</a:t>
            </a:r>
            <a:r>
              <a:rPr lang="en-US" dirty="0" smtClean="0"/>
              <a:t>Ok</a:t>
            </a:r>
            <a:r>
              <a:rPr lang="en-US" dirty="0"/>
              <a:t>, I see. Let’s ask someone, maybe. </a:t>
            </a:r>
          </a:p>
          <a:p>
            <a:r>
              <a:rPr lang="en-US" b="1" dirty="0"/>
              <a:t>Peter: </a:t>
            </a:r>
            <a:r>
              <a:rPr lang="en-US" b="1" dirty="0" smtClean="0"/>
              <a:t>	</a:t>
            </a:r>
            <a:r>
              <a:rPr lang="en-US" dirty="0" smtClean="0"/>
              <a:t>Sure</a:t>
            </a:r>
            <a:r>
              <a:rPr lang="en-US" dirty="0"/>
              <a:t>, there are also a few shops near the park, on the right.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469900" y="4821585"/>
            <a:ext cx="5848350" cy="228600"/>
          </a:xfrm>
        </p:spPr>
        <p:txBody>
          <a:bodyPr/>
          <a:lstStyle/>
          <a:p>
            <a:r>
              <a:rPr lang="en-US" dirty="0" smtClean="0"/>
              <a:t>Instructions: Read the dialogue aloud.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/>
            <a:r>
              <a:rPr lang="en-US" dirty="0"/>
              <a:t>Let’s take a walk with Peter </a:t>
            </a:r>
            <a:r>
              <a:rPr lang="en-US" dirty="0" smtClean="0"/>
              <a:t>and Vanessa around the neighborhood. Where do they want to go? Let’s find out.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853357" y="205021"/>
            <a:ext cx="1734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Going to the Bakery</a:t>
            </a:r>
          </a:p>
        </p:txBody>
      </p:sp>
    </p:spTree>
    <p:extLst>
      <p:ext uri="{BB962C8B-B14F-4D97-AF65-F5344CB8AC3E}">
        <p14:creationId xmlns:p14="http://schemas.microsoft.com/office/powerpoint/2010/main" val="2399453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69900" y="1555750"/>
            <a:ext cx="5861050" cy="317311"/>
          </a:xfrm>
        </p:spPr>
        <p:txBody>
          <a:bodyPr/>
          <a:lstStyle/>
          <a:p>
            <a:r>
              <a:rPr lang="en-US" dirty="0" smtClean="0"/>
              <a:t>Peter </a:t>
            </a:r>
            <a:r>
              <a:rPr lang="en-US" dirty="0"/>
              <a:t>knows the neighborhood quite well. What about Vanessa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9900" y="5048250"/>
            <a:ext cx="5861050" cy="250202"/>
          </a:xfrm>
        </p:spPr>
        <p:txBody>
          <a:bodyPr/>
          <a:lstStyle/>
          <a:p>
            <a:pPr fontAlgn="t"/>
            <a:r>
              <a:rPr lang="en-US" dirty="0" smtClean="0"/>
              <a:t>Let’s </a:t>
            </a:r>
            <a:r>
              <a:rPr lang="en-US" dirty="0"/>
              <a:t>describe the places in a neighborhood. Do you remember the words?</a:t>
            </a:r>
            <a:endParaRPr lang="en-US" dirty="0"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53357" y="205021"/>
            <a:ext cx="1734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Going to the Bakery</a:t>
            </a:r>
          </a:p>
        </p:txBody>
      </p:sp>
      <p:sp>
        <p:nvSpPr>
          <p:cNvPr id="7" name="Text Placeholder 64"/>
          <p:cNvSpPr txBox="1">
            <a:spLocks/>
          </p:cNvSpPr>
          <p:nvPr/>
        </p:nvSpPr>
        <p:spPr>
          <a:xfrm>
            <a:off x="482600" y="1871960"/>
            <a:ext cx="5848350" cy="2286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Instructions: Select the correct answer.</a:t>
            </a:r>
            <a:endParaRPr lang="en-US" sz="1000" dirty="0">
              <a:effectLst/>
            </a:endParaRPr>
          </a:p>
        </p:txBody>
      </p:sp>
      <p:sp>
        <p:nvSpPr>
          <p:cNvPr id="8" name="Text Placeholder 64"/>
          <p:cNvSpPr txBox="1">
            <a:spLocks/>
          </p:cNvSpPr>
          <p:nvPr/>
        </p:nvSpPr>
        <p:spPr>
          <a:xfrm>
            <a:off x="481069" y="5385606"/>
            <a:ext cx="5848350" cy="27206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Instructions: Match </a:t>
            </a:r>
            <a:r>
              <a:rPr lang="en-US" sz="1000" dirty="0" smtClean="0"/>
              <a:t>the word on </a:t>
            </a:r>
            <a:r>
              <a:rPr lang="en-US" sz="1000" dirty="0"/>
              <a:t>the left with the </a:t>
            </a:r>
            <a:r>
              <a:rPr lang="en-US" sz="1000" dirty="0" smtClean="0"/>
              <a:t>definition on </a:t>
            </a:r>
            <a:r>
              <a:rPr lang="en-US" sz="1000" dirty="0"/>
              <a:t>the right.  </a:t>
            </a:r>
            <a:endParaRPr lang="en-US" sz="1000" dirty="0">
              <a:effectLst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4827" y="2399057"/>
            <a:ext cx="3155610" cy="164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dirty="0" smtClean="0"/>
              <a:t>Is there a park?</a:t>
            </a:r>
          </a:p>
          <a:p>
            <a:pPr marL="342900" indent="-342900">
              <a:buFont typeface="+mj-lt"/>
              <a:buAutoNum type="arabicPeriod"/>
            </a:pPr>
            <a:endParaRPr lang="en-US" sz="1100" dirty="0"/>
          </a:p>
          <a:p>
            <a:pPr marL="342900" indent="-342900">
              <a:lnSpc>
                <a:spcPct val="120000"/>
              </a:lnSpc>
              <a:buFont typeface="Wingdings" charset="2"/>
              <a:buChar char="q"/>
            </a:pPr>
            <a:r>
              <a:rPr lang="en-US" sz="1100" dirty="0" smtClean="0"/>
              <a:t>Yes. The park is across from the stadium on the left.</a:t>
            </a:r>
          </a:p>
          <a:p>
            <a:pPr marL="342900" indent="-342900">
              <a:lnSpc>
                <a:spcPct val="120000"/>
              </a:lnSpc>
              <a:buFont typeface="Wingdings" charset="2"/>
              <a:buChar char="q"/>
            </a:pPr>
            <a:r>
              <a:rPr lang="en-US" sz="1100" dirty="0" smtClean="0"/>
              <a:t>Yes. The park is across from the stadium on the right.</a:t>
            </a:r>
          </a:p>
          <a:p>
            <a:pPr marL="342900" indent="-342900">
              <a:lnSpc>
                <a:spcPct val="120000"/>
              </a:lnSpc>
              <a:buFont typeface="Wingdings" charset="2"/>
              <a:buChar char="q"/>
            </a:pPr>
            <a:r>
              <a:rPr lang="en-US" sz="1100" dirty="0" smtClean="0"/>
              <a:t>Yes. The park is across from the bakery on the left.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8454" y="2397507"/>
            <a:ext cx="3155610" cy="164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2.    Where is the bakery?</a:t>
            </a:r>
          </a:p>
          <a:p>
            <a:pPr marL="342900" indent="-342900">
              <a:buFont typeface="+mj-lt"/>
              <a:buAutoNum type="arabicPeriod"/>
            </a:pPr>
            <a:endParaRPr lang="en-US" sz="1100" dirty="0"/>
          </a:p>
          <a:p>
            <a:pPr marL="342900" indent="-342900">
              <a:lnSpc>
                <a:spcPct val="120000"/>
              </a:lnSpc>
              <a:buFont typeface="Wingdings" charset="2"/>
              <a:buChar char="q"/>
            </a:pPr>
            <a:r>
              <a:rPr lang="en-US" sz="1100" dirty="0" smtClean="0"/>
              <a:t>The bakery is across from the Italian restaurant.</a:t>
            </a:r>
          </a:p>
          <a:p>
            <a:pPr marL="342900" indent="-342900">
              <a:lnSpc>
                <a:spcPct val="120000"/>
              </a:lnSpc>
              <a:buFont typeface="Wingdings" charset="2"/>
              <a:buChar char="q"/>
            </a:pPr>
            <a:r>
              <a:rPr lang="en-US" sz="1100" dirty="0" smtClean="0"/>
              <a:t>The bakery is near the Italian restaurant.</a:t>
            </a:r>
          </a:p>
          <a:p>
            <a:pPr marL="342900" indent="-342900">
              <a:lnSpc>
                <a:spcPct val="120000"/>
              </a:lnSpc>
              <a:buFont typeface="Wingdings" charset="2"/>
              <a:buChar char="q"/>
            </a:pPr>
            <a:r>
              <a:rPr lang="en-US" sz="1100" dirty="0" smtClean="0"/>
              <a:t>The bakery is next to the Italian restaurant.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0978" y="5914253"/>
            <a:ext cx="1411039" cy="2243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/>
              <a:t>b</a:t>
            </a:r>
            <a:r>
              <a:rPr lang="en-US" sz="1200" dirty="0" smtClean="0"/>
              <a:t>akery</a:t>
            </a:r>
          </a:p>
          <a:p>
            <a:pPr>
              <a:lnSpc>
                <a:spcPct val="130000"/>
              </a:lnSpc>
            </a:pP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/>
              <a:t>n</a:t>
            </a:r>
            <a:r>
              <a:rPr lang="en-US" sz="1200" dirty="0" smtClean="0"/>
              <a:t>ext to</a:t>
            </a:r>
          </a:p>
          <a:p>
            <a:pPr>
              <a:lnSpc>
                <a:spcPct val="130000"/>
              </a:lnSpc>
            </a:pP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/>
              <a:t>t</a:t>
            </a:r>
            <a:r>
              <a:rPr lang="en-US" sz="1200" dirty="0" smtClean="0"/>
              <a:t>ree</a:t>
            </a:r>
          </a:p>
          <a:p>
            <a:pPr>
              <a:lnSpc>
                <a:spcPct val="130000"/>
              </a:lnSpc>
            </a:pPr>
            <a:endParaRPr lang="en-US" sz="1200" dirty="0" smtClean="0"/>
          </a:p>
          <a:p>
            <a:pPr>
              <a:lnSpc>
                <a:spcPct val="130000"/>
              </a:lnSpc>
            </a:pPr>
            <a:r>
              <a:rPr lang="en-US" sz="1200" dirty="0" smtClean="0"/>
              <a:t>straight ahead</a:t>
            </a:r>
          </a:p>
          <a:p>
            <a:pPr>
              <a:lnSpc>
                <a:spcPct val="130000"/>
              </a:lnSpc>
            </a:pPr>
            <a:endParaRPr lang="en-US" sz="1200" dirty="0" smtClean="0"/>
          </a:p>
          <a:p>
            <a:pPr>
              <a:lnSpc>
                <a:spcPct val="130000"/>
              </a:lnSpc>
            </a:pPr>
            <a:r>
              <a:rPr lang="en-US" sz="1200" dirty="0" smtClean="0"/>
              <a:t>across from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3104304" y="5914258"/>
            <a:ext cx="2552704" cy="2302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smtClean="0"/>
              <a:t>right </a:t>
            </a:r>
            <a:r>
              <a:rPr lang="en-US" sz="1200" dirty="0"/>
              <a:t>in your path</a:t>
            </a:r>
          </a:p>
          <a:p>
            <a:pPr>
              <a:lnSpc>
                <a:spcPct val="120000"/>
              </a:lnSpc>
            </a:pPr>
            <a:endParaRPr lang="en-US" sz="1200" dirty="0"/>
          </a:p>
          <a:p>
            <a:pPr>
              <a:lnSpc>
                <a:spcPct val="120000"/>
              </a:lnSpc>
            </a:pPr>
            <a:r>
              <a:rPr lang="en-US" sz="1200" dirty="0"/>
              <a:t>opposite</a:t>
            </a:r>
          </a:p>
          <a:p>
            <a:pPr>
              <a:lnSpc>
                <a:spcPct val="120000"/>
              </a:lnSpc>
            </a:pPr>
            <a:endParaRPr lang="en-US" sz="1200" dirty="0"/>
          </a:p>
          <a:p>
            <a:pPr>
              <a:lnSpc>
                <a:spcPct val="120000"/>
              </a:lnSpc>
            </a:pPr>
            <a:r>
              <a:rPr lang="en-US" sz="1200" dirty="0"/>
              <a:t>a</a:t>
            </a:r>
            <a:r>
              <a:rPr lang="en-US" sz="1200" dirty="0" smtClean="0"/>
              <a:t> large plant with a trunk and roots</a:t>
            </a:r>
          </a:p>
          <a:p>
            <a:pPr>
              <a:lnSpc>
                <a:spcPct val="120000"/>
              </a:lnSpc>
            </a:pPr>
            <a:endParaRPr lang="en-US" sz="1200" dirty="0"/>
          </a:p>
          <a:p>
            <a:pPr>
              <a:lnSpc>
                <a:spcPct val="120000"/>
              </a:lnSpc>
            </a:pPr>
            <a:r>
              <a:rPr lang="en-US" sz="1200" dirty="0"/>
              <a:t>a place to buy bread</a:t>
            </a:r>
          </a:p>
          <a:p>
            <a:pPr>
              <a:lnSpc>
                <a:spcPct val="120000"/>
              </a:lnSpc>
            </a:pPr>
            <a:endParaRPr lang="en-US" sz="1200" dirty="0"/>
          </a:p>
          <a:p>
            <a:pPr>
              <a:lnSpc>
                <a:spcPct val="120000"/>
              </a:lnSpc>
            </a:pPr>
            <a:r>
              <a:rPr lang="en-US" sz="1200" dirty="0"/>
              <a:t>at the side </a:t>
            </a:r>
            <a:r>
              <a:rPr lang="en-US" sz="1200" dirty="0" smtClean="0"/>
              <a:t>of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16472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512115" y="2558670"/>
            <a:ext cx="2910594" cy="189538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r>
              <a:rPr lang="en-US" sz="1000" dirty="0"/>
              <a:t>Make a list of the places you know in your neighborhood.</a:t>
            </a:r>
            <a:r>
              <a:rPr lang="en-CA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/>
            </a:r>
            <a:br>
              <a:rPr lang="en-CA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r>
              <a:rPr lang="en-CA" sz="1000" dirty="0"/>
              <a:t>Describe the places. Where are they? Are they near?</a:t>
            </a: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  <a:buFont typeface="+mj-lt"/>
              <a:buAutoNum type="alphaLcParenR"/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r>
              <a:rPr lang="en-CA" sz="1000" dirty="0"/>
              <a:t>Which places do you like? Why?</a:t>
            </a:r>
            <a:endParaRPr lang="en-CA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  <a:buFont typeface="+mj-lt"/>
              <a:buAutoNum type="alphaLcParenR"/>
            </a:pPr>
            <a:endParaRPr lang="en-CA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r>
              <a:rPr lang="en-CA" sz="1000" dirty="0"/>
              <a:t>Share the list with your partner.</a:t>
            </a: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r>
              <a:rPr lang="en-CA" sz="1000" dirty="0" smtClean="0"/>
              <a:t>Ask your partner to do the same. Listen </a:t>
            </a:r>
            <a:r>
              <a:rPr lang="en-CA" sz="1000" dirty="0"/>
              <a:t>to your partner’s description. Are your </a:t>
            </a:r>
            <a:r>
              <a:rPr lang="en-CA" sz="1000" dirty="0" err="1"/>
              <a:t>neighborhoods</a:t>
            </a:r>
            <a:r>
              <a:rPr lang="en-CA" sz="1000" dirty="0"/>
              <a:t> the same?</a:t>
            </a:r>
            <a:endParaRPr lang="en-CA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</p:txBody>
      </p:sp>
      <p:grpSp>
        <p:nvGrpSpPr>
          <p:cNvPr id="3" name="Grupo 1"/>
          <p:cNvGrpSpPr/>
          <p:nvPr/>
        </p:nvGrpSpPr>
        <p:grpSpPr>
          <a:xfrm>
            <a:off x="3578918" y="2406283"/>
            <a:ext cx="2910781" cy="1892667"/>
            <a:chOff x="3448051" y="2431712"/>
            <a:chExt cx="2904574" cy="1888630"/>
          </a:xfrm>
        </p:grpSpPr>
        <p:grpSp>
          <p:nvGrpSpPr>
            <p:cNvPr id="4" name="Group 5"/>
            <p:cNvGrpSpPr/>
            <p:nvPr/>
          </p:nvGrpSpPr>
          <p:grpSpPr>
            <a:xfrm>
              <a:off x="5507177" y="2550329"/>
              <a:ext cx="701770" cy="1530256"/>
              <a:chOff x="5507177" y="6341645"/>
              <a:chExt cx="701770" cy="1530256"/>
            </a:xfrm>
          </p:grpSpPr>
          <p:sp>
            <p:nvSpPr>
              <p:cNvPr id="7" name="Shape 193"/>
              <p:cNvSpPr/>
              <p:nvPr/>
            </p:nvSpPr>
            <p:spPr>
              <a:xfrm>
                <a:off x="5507177" y="6341645"/>
                <a:ext cx="280800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Y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es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8" name="Shape 194"/>
              <p:cNvSpPr/>
              <p:nvPr/>
            </p:nvSpPr>
            <p:spPr>
              <a:xfrm>
                <a:off x="5928147" y="6348117"/>
                <a:ext cx="280800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N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o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9" name="Shape 200"/>
              <p:cNvSpPr/>
              <p:nvPr/>
            </p:nvSpPr>
            <p:spPr>
              <a:xfrm>
                <a:off x="5516805" y="6702850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" name="Shape 201"/>
              <p:cNvSpPr/>
              <p:nvPr/>
            </p:nvSpPr>
            <p:spPr>
              <a:xfrm>
                <a:off x="5934497" y="6700878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" name="Shape 202"/>
              <p:cNvSpPr/>
              <p:nvPr/>
            </p:nvSpPr>
            <p:spPr>
              <a:xfrm>
                <a:off x="5513528" y="7119611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2" name="Shape 203"/>
              <p:cNvSpPr/>
              <p:nvPr/>
            </p:nvSpPr>
            <p:spPr>
              <a:xfrm>
                <a:off x="5933101" y="7118036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7" name="Shape 204"/>
              <p:cNvSpPr/>
              <p:nvPr/>
            </p:nvSpPr>
            <p:spPr>
              <a:xfrm>
                <a:off x="5516887" y="7601901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8" name="Shape 205"/>
              <p:cNvSpPr/>
              <p:nvPr/>
            </p:nvSpPr>
            <p:spPr>
              <a:xfrm>
                <a:off x="5910089" y="7600363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5" name="Shape 225"/>
            <p:cNvSpPr/>
            <p:nvPr/>
          </p:nvSpPr>
          <p:spPr>
            <a:xfrm>
              <a:off x="3591738" y="2602735"/>
              <a:ext cx="1774107" cy="166612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685800">
                <a:buSzPct val="100000"/>
              </a:pPr>
              <a:r>
                <a:rPr 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/>
                  <a:cs typeface="Verdana"/>
                </a:rPr>
                <a:t>Self Assessment</a:t>
              </a:r>
            </a:p>
            <a:p>
              <a:pPr lvl="0" defTabSz="685800">
                <a:spcBef>
                  <a:spcPts val="1500"/>
                </a:spcBef>
                <a:buSzPct val="100000"/>
              </a:pPr>
              <a:r>
                <a:rPr lang="en-CA" sz="1000" dirty="0" smtClean="0"/>
                <a:t>I use at, by, in, to when talking about places.</a:t>
              </a:r>
              <a:endParaRPr lang="en-CA" sz="1000" dirty="0" smtClean="0">
                <a:latin typeface="Verdana"/>
                <a:ea typeface="Myriad Pro"/>
                <a:cs typeface="Verdana"/>
                <a:sym typeface="Myriad Pro"/>
              </a:endParaRPr>
            </a:p>
            <a:p>
              <a:pPr lvl="0" defTabSz="685800">
                <a:spcBef>
                  <a:spcPts val="1500"/>
                </a:spcBef>
                <a:buSzPct val="100000"/>
              </a:pPr>
              <a:r>
                <a:rPr lang="en-CA" sz="1000" dirty="0"/>
                <a:t>I describe places in my </a:t>
              </a:r>
              <a:r>
                <a:rPr lang="en-CA" sz="1000" dirty="0" err="1"/>
                <a:t>neighborhood</a:t>
              </a:r>
              <a:r>
                <a:rPr lang="en-CA" sz="1000" dirty="0"/>
                <a:t>.</a:t>
              </a:r>
              <a:endParaRPr lang="en-CA" sz="1000" dirty="0">
                <a:ea typeface="Myriad Pro"/>
                <a:cs typeface="Verdana"/>
                <a:sym typeface="Myriad Pro"/>
              </a:endParaRPr>
            </a:p>
            <a:p>
              <a:pPr lvl="0" defTabSz="685800">
                <a:spcBef>
                  <a:spcPts val="1500"/>
                </a:spcBef>
                <a:buSzPct val="100000"/>
              </a:pPr>
              <a:r>
                <a:rPr lang="en-CA" sz="1000" dirty="0"/>
                <a:t>I ask and say where places are</a:t>
              </a:r>
              <a:r>
                <a:rPr lang="en-CA" sz="1000" dirty="0" smtClean="0"/>
                <a:t>.</a:t>
              </a:r>
              <a:endParaRPr lang="en-CA" sz="1000" dirty="0" smtClean="0">
                <a:ea typeface="Myriad Pro"/>
                <a:cs typeface="Verdana"/>
                <a:sym typeface="Myriad Pro"/>
              </a:endParaRPr>
            </a:p>
          </p:txBody>
        </p:sp>
        <p:sp>
          <p:nvSpPr>
            <p:cNvPr id="6" name="Rounded Rectangle 6"/>
            <p:cNvSpPr/>
            <p:nvPr/>
          </p:nvSpPr>
          <p:spPr>
            <a:xfrm>
              <a:off x="3448051" y="2431712"/>
              <a:ext cx="2904574" cy="1888630"/>
            </a:xfrm>
            <a:prstGeom prst="roundRect">
              <a:avLst>
                <a:gd name="adj" fmla="val 11375"/>
              </a:avLst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beve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15" name="Rectangle 3"/>
          <p:cNvSpPr/>
          <p:nvPr/>
        </p:nvSpPr>
        <p:spPr>
          <a:xfrm>
            <a:off x="478315" y="1501930"/>
            <a:ext cx="6274437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Let’s take a walk around the neighborhood</a:t>
            </a:r>
            <a:r>
              <a:rPr lang="en-US" sz="1100" dirty="0" smtClean="0"/>
              <a:t>!</a:t>
            </a:r>
          </a:p>
          <a:p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Instructions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CA" sz="1000" i="1" dirty="0" smtClean="0"/>
              <a:t>Describe </a:t>
            </a:r>
            <a:r>
              <a:rPr lang="en-CA" sz="1000" i="1" dirty="0"/>
              <a:t>your </a:t>
            </a:r>
            <a:r>
              <a:rPr lang="en-CA" sz="1000" i="1" dirty="0" err="1"/>
              <a:t>neighborhood</a:t>
            </a:r>
            <a:r>
              <a:rPr lang="en-CA" sz="1000" i="1" dirty="0"/>
              <a:t> to your partner. Make a list of the places you know.</a:t>
            </a:r>
            <a:endParaRPr lang="en-CA" sz="1000" dirty="0"/>
          </a:p>
          <a:p>
            <a:pPr algn="l" rtl="0"/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following steps. Fill in the Self Assessment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CA" sz="1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40316" y="20268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Going to the Bakery</a:t>
            </a:r>
            <a:endParaRPr 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474624" y="5490890"/>
            <a:ext cx="29760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000" b="1" dirty="0"/>
              <a:t>a</a:t>
            </a:r>
            <a:r>
              <a:rPr lang="en-US" sz="1000" b="1" dirty="0" smtClean="0"/>
              <a:t>cross </a:t>
            </a:r>
            <a:r>
              <a:rPr lang="en-US" sz="1000" b="1" dirty="0"/>
              <a:t>from </a:t>
            </a:r>
            <a:r>
              <a:rPr lang="en-US" sz="1000" dirty="0"/>
              <a:t>(preposition</a:t>
            </a:r>
            <a:r>
              <a:rPr lang="en-US" sz="1000" dirty="0" smtClean="0"/>
              <a:t>): opposite</a:t>
            </a:r>
            <a:r>
              <a:rPr lang="en-US" sz="1000" dirty="0"/>
              <a:t>; on the other side of </a:t>
            </a:r>
            <a:r>
              <a:rPr lang="en-US" sz="1000" dirty="0" smtClean="0"/>
              <a:t>something</a:t>
            </a:r>
            <a:br>
              <a:rPr lang="en-US" sz="1000" dirty="0" smtClean="0"/>
            </a:br>
            <a:r>
              <a:rPr lang="en-US" sz="1000" dirty="0" smtClean="0"/>
              <a:t>e.g</a:t>
            </a:r>
            <a:r>
              <a:rPr lang="en-US" sz="1000" dirty="0"/>
              <a:t>.</a:t>
            </a:r>
            <a:r>
              <a:rPr lang="en-US" sz="1000" dirty="0" smtClean="0"/>
              <a:t> </a:t>
            </a:r>
            <a:r>
              <a:rPr lang="en-US" sz="1000" dirty="0"/>
              <a:t>There is a park across from the stadium.</a:t>
            </a:r>
          </a:p>
          <a:p>
            <a:pPr marL="171450" indent="-171450">
              <a:buFont typeface="Arial"/>
              <a:buChar char="•"/>
            </a:pPr>
            <a:r>
              <a:rPr lang="en-US" sz="1000" b="1" dirty="0"/>
              <a:t>b</a:t>
            </a:r>
            <a:r>
              <a:rPr lang="en-US" sz="1000" b="1" dirty="0" smtClean="0"/>
              <a:t>akery</a:t>
            </a:r>
            <a:r>
              <a:rPr lang="en-US" sz="1000" dirty="0" smtClean="0"/>
              <a:t> </a:t>
            </a:r>
            <a:r>
              <a:rPr lang="en-US" sz="1000" dirty="0"/>
              <a:t>(noun</a:t>
            </a:r>
            <a:r>
              <a:rPr lang="en-US" sz="1000" dirty="0" smtClean="0"/>
              <a:t>): a </a:t>
            </a:r>
            <a:r>
              <a:rPr lang="en-US" sz="1000" dirty="0"/>
              <a:t>place to buy bread, </a:t>
            </a:r>
            <a:r>
              <a:rPr lang="en-US" sz="1000" dirty="0" smtClean="0"/>
              <a:t>cake</a:t>
            </a:r>
            <a:br>
              <a:rPr lang="en-US" sz="1000" dirty="0" smtClean="0"/>
            </a:br>
            <a:r>
              <a:rPr lang="en-US" sz="1000" dirty="0" smtClean="0"/>
              <a:t>e.g. </a:t>
            </a:r>
            <a:r>
              <a:rPr lang="en-US" sz="1000" dirty="0"/>
              <a:t>Sally always goes to the bakery to buy bread.</a:t>
            </a:r>
          </a:p>
          <a:p>
            <a:pPr marL="171450" indent="-171450">
              <a:buFont typeface="Arial"/>
              <a:buChar char="•"/>
            </a:pPr>
            <a:r>
              <a:rPr lang="en-US" sz="1000" b="1" dirty="0"/>
              <a:t>n</a:t>
            </a:r>
            <a:r>
              <a:rPr lang="en-US" sz="1000" b="1" dirty="0" smtClean="0"/>
              <a:t>ext </a:t>
            </a:r>
            <a:r>
              <a:rPr lang="en-US" sz="1000" b="1" dirty="0"/>
              <a:t>to </a:t>
            </a:r>
            <a:r>
              <a:rPr lang="en-US" sz="1000" dirty="0"/>
              <a:t>(preposition</a:t>
            </a:r>
            <a:r>
              <a:rPr lang="en-US" sz="1000" dirty="0" smtClean="0"/>
              <a:t>): at </a:t>
            </a:r>
            <a:r>
              <a:rPr lang="en-US" sz="1000" dirty="0"/>
              <a:t>the side of something or </a:t>
            </a:r>
            <a:r>
              <a:rPr lang="en-US" sz="1000" dirty="0" smtClean="0"/>
              <a:t>someone</a:t>
            </a:r>
            <a:br>
              <a:rPr lang="en-US" sz="1000" dirty="0" smtClean="0"/>
            </a:br>
            <a:r>
              <a:rPr lang="en-US" sz="1000" dirty="0" smtClean="0"/>
              <a:t>e.g. </a:t>
            </a:r>
            <a:r>
              <a:rPr lang="en-US" sz="1000" dirty="0"/>
              <a:t>The bakery is next to the restaurant, I think</a:t>
            </a:r>
            <a:r>
              <a:rPr lang="en-US" sz="1000" dirty="0" smtClean="0"/>
              <a:t>…</a:t>
            </a:r>
            <a:endParaRPr 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3578924" y="5490891"/>
            <a:ext cx="279643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000" b="1" dirty="0"/>
              <a:t>r</a:t>
            </a:r>
            <a:r>
              <a:rPr lang="en-US" sz="1000" b="1" dirty="0" smtClean="0"/>
              <a:t>ight </a:t>
            </a:r>
            <a:r>
              <a:rPr lang="en-US" sz="1000" b="1" dirty="0"/>
              <a:t>there </a:t>
            </a:r>
            <a:r>
              <a:rPr lang="en-US" sz="1000" dirty="0"/>
              <a:t>(expression</a:t>
            </a:r>
            <a:r>
              <a:rPr lang="en-US" sz="1000" dirty="0" smtClean="0"/>
              <a:t>): at </a:t>
            </a:r>
            <a:r>
              <a:rPr lang="en-US" sz="1000" dirty="0"/>
              <a:t>that exact </a:t>
            </a:r>
            <a:r>
              <a:rPr lang="en-US" sz="1000" dirty="0" smtClean="0"/>
              <a:t>spot</a:t>
            </a:r>
            <a:br>
              <a:rPr lang="en-US" sz="1000" dirty="0" smtClean="0"/>
            </a:br>
            <a:r>
              <a:rPr lang="en-US" sz="1000" dirty="0" smtClean="0"/>
              <a:t>e.g. </a:t>
            </a:r>
            <a:r>
              <a:rPr lang="en-US" sz="1000" dirty="0"/>
              <a:t>The bakery is right there, near the park.</a:t>
            </a:r>
          </a:p>
          <a:p>
            <a:pPr marL="171450" indent="-171450">
              <a:buFont typeface="Arial"/>
              <a:buChar char="•"/>
            </a:pPr>
            <a:r>
              <a:rPr lang="en-US" sz="1000" b="1" dirty="0"/>
              <a:t>s</a:t>
            </a:r>
            <a:r>
              <a:rPr lang="en-US" sz="1000" b="1" dirty="0" smtClean="0"/>
              <a:t>traight </a:t>
            </a:r>
            <a:r>
              <a:rPr lang="en-US" sz="1000" b="1" dirty="0"/>
              <a:t>ahead </a:t>
            </a:r>
            <a:r>
              <a:rPr lang="en-US" sz="1000" dirty="0"/>
              <a:t>(expression</a:t>
            </a:r>
            <a:r>
              <a:rPr lang="en-US" sz="1000" dirty="0" smtClean="0"/>
              <a:t>): right </a:t>
            </a:r>
            <a:r>
              <a:rPr lang="en-US" sz="1000" dirty="0"/>
              <a:t>in your </a:t>
            </a:r>
            <a:r>
              <a:rPr lang="en-US" sz="1000" dirty="0" smtClean="0"/>
              <a:t>path</a:t>
            </a:r>
            <a:br>
              <a:rPr lang="en-US" sz="1000" dirty="0" smtClean="0"/>
            </a:br>
            <a:r>
              <a:rPr lang="en-US" sz="1000" dirty="0" smtClean="0"/>
              <a:t>e.g. </a:t>
            </a:r>
            <a:r>
              <a:rPr lang="en-US" sz="1000" dirty="0"/>
              <a:t>The park is straight ahead. Then, there is the bakery.</a:t>
            </a:r>
          </a:p>
          <a:p>
            <a:pPr marL="171450" indent="-171450">
              <a:buFont typeface="Arial"/>
              <a:buChar char="•"/>
            </a:pPr>
            <a:r>
              <a:rPr lang="en-US" sz="1000" b="1" dirty="0"/>
              <a:t>t</a:t>
            </a:r>
            <a:r>
              <a:rPr lang="en-US" sz="1000" b="1" dirty="0" smtClean="0"/>
              <a:t>ree</a:t>
            </a:r>
            <a:r>
              <a:rPr lang="en-US" sz="1000" dirty="0" smtClean="0"/>
              <a:t> </a:t>
            </a:r>
            <a:r>
              <a:rPr lang="en-US" sz="1000" dirty="0"/>
              <a:t>(noun</a:t>
            </a:r>
            <a:r>
              <a:rPr lang="en-US" sz="1000" dirty="0" smtClean="0"/>
              <a:t>): a </a:t>
            </a:r>
            <a:r>
              <a:rPr lang="en-US" sz="1000" dirty="0"/>
              <a:t>large plant with a trunk and roots in the </a:t>
            </a:r>
            <a:r>
              <a:rPr lang="en-US" sz="1000" dirty="0" smtClean="0"/>
              <a:t>ground</a:t>
            </a:r>
            <a:br>
              <a:rPr lang="en-US" sz="1000" dirty="0" smtClean="0"/>
            </a:br>
            <a:r>
              <a:rPr lang="en-US" sz="1000" dirty="0" smtClean="0"/>
              <a:t>e.g. </a:t>
            </a:r>
            <a:r>
              <a:rPr lang="en-US" sz="1000" dirty="0"/>
              <a:t>I like to look at the trees in the park.</a:t>
            </a:r>
          </a:p>
          <a:p>
            <a:pPr marL="171450" indent="-171450">
              <a:buFont typeface="Arial"/>
              <a:buChar char="•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054345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469900" y="1530091"/>
            <a:ext cx="5226050" cy="1266671"/>
          </a:xfrm>
        </p:spPr>
        <p:txBody>
          <a:bodyPr/>
          <a:lstStyle/>
          <a:p>
            <a:r>
              <a:rPr lang="en-US" b="1" dirty="0"/>
              <a:t>Asking Where Places are in the City</a:t>
            </a:r>
          </a:p>
          <a:p>
            <a:pPr marL="0" indent="0"/>
            <a:endParaRPr lang="en-US" dirty="0" smtClean="0"/>
          </a:p>
          <a:p>
            <a:pPr marL="0" indent="0"/>
            <a:r>
              <a:rPr lang="en-US" sz="1000" dirty="0" smtClean="0"/>
              <a:t>When </a:t>
            </a:r>
            <a:r>
              <a:rPr lang="en-US" sz="1000" dirty="0"/>
              <a:t>you ask where places are, you can use </a:t>
            </a:r>
            <a:r>
              <a:rPr lang="en-US" sz="1000" i="1" dirty="0"/>
              <a:t>Is there…? </a:t>
            </a:r>
            <a:r>
              <a:rPr lang="en-US" sz="1000" dirty="0"/>
              <a:t>or </a:t>
            </a:r>
            <a:r>
              <a:rPr lang="en-US" sz="1000" i="1" dirty="0"/>
              <a:t>Are there…?</a:t>
            </a:r>
            <a:r>
              <a:rPr lang="en-US" sz="1000" dirty="0"/>
              <a:t> to make a question.</a:t>
            </a:r>
          </a:p>
          <a:p>
            <a:endParaRPr lang="en-US" sz="1000" dirty="0"/>
          </a:p>
          <a:p>
            <a:pPr marL="0" indent="0"/>
            <a:r>
              <a:rPr lang="en-US" sz="1000" dirty="0"/>
              <a:t>You use expressions like </a:t>
            </a:r>
            <a:r>
              <a:rPr lang="en-US" sz="1000" i="1" dirty="0"/>
              <a:t>left, right, straight ahead, across from </a:t>
            </a:r>
            <a:r>
              <a:rPr lang="en-US" sz="1000" dirty="0"/>
              <a:t>or </a:t>
            </a:r>
            <a:r>
              <a:rPr lang="en-US" sz="1000" i="1" dirty="0"/>
              <a:t>next to</a:t>
            </a:r>
            <a:r>
              <a:rPr lang="en-US" sz="1000" dirty="0"/>
              <a:t> to say where things are.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69900" y="3801370"/>
            <a:ext cx="5584766" cy="1060893"/>
          </a:xfrm>
        </p:spPr>
        <p:txBody>
          <a:bodyPr/>
          <a:lstStyle/>
          <a:p>
            <a:r>
              <a:rPr lang="en-US" b="1" dirty="0"/>
              <a:t>Examples</a:t>
            </a:r>
          </a:p>
          <a:p>
            <a:pPr marL="171450" indent="-171450">
              <a:buFont typeface="Arial"/>
              <a:buChar char="•"/>
            </a:pPr>
            <a:r>
              <a:rPr lang="en-US" b="1" i="1" dirty="0"/>
              <a:t>Peter: </a:t>
            </a:r>
            <a:r>
              <a:rPr lang="en-US" i="1" dirty="0"/>
              <a:t>Is there a library in the neighborhood?</a:t>
            </a:r>
          </a:p>
          <a:p>
            <a:r>
              <a:rPr lang="en-US" b="1" i="1" dirty="0" smtClean="0"/>
              <a:t>    Vanessa</a:t>
            </a:r>
            <a:r>
              <a:rPr lang="en-US" b="1" i="1" dirty="0"/>
              <a:t>: </a:t>
            </a:r>
            <a:r>
              <a:rPr lang="en-US" i="1" dirty="0"/>
              <a:t>Yes. It is straight ahead, across from the park.</a:t>
            </a:r>
          </a:p>
          <a:p>
            <a:pPr marL="171450" indent="-171450">
              <a:buFont typeface="Arial"/>
              <a:buChar char="•"/>
            </a:pPr>
            <a:r>
              <a:rPr lang="en-US" b="1" i="1" dirty="0"/>
              <a:t>John: </a:t>
            </a:r>
            <a:r>
              <a:rPr lang="en-US" i="1" dirty="0"/>
              <a:t>Are there many restaurants in your neighborhood?</a:t>
            </a:r>
          </a:p>
          <a:p>
            <a:r>
              <a:rPr lang="en-US" b="1" i="1" dirty="0" smtClean="0"/>
              <a:t>    Sally</a:t>
            </a:r>
            <a:r>
              <a:rPr lang="en-US" b="1" i="1" dirty="0"/>
              <a:t>: </a:t>
            </a:r>
            <a:r>
              <a:rPr lang="en-US" i="1" dirty="0"/>
              <a:t>Yes, there are some next to the swimming pool.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840529" y="205021"/>
            <a:ext cx="1734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Going to the Bakery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794008"/>
              </p:ext>
            </p:extLst>
          </p:nvPr>
        </p:nvGraphicFramePr>
        <p:xfrm>
          <a:off x="1143000" y="2983855"/>
          <a:ext cx="4821873" cy="670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3921"/>
                <a:gridCol w="2757952"/>
              </a:tblGrid>
              <a:tr h="274758"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Question</a:t>
                      </a:r>
                      <a:endParaRPr lang="en-US" sz="1000" b="1" dirty="0"/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Answer</a:t>
                      </a:r>
                      <a:endParaRPr lang="en-US" sz="1000" b="1" dirty="0"/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Is there +</a:t>
                      </a:r>
                      <a:r>
                        <a:rPr lang="en-US" sz="1000" baseline="0" dirty="0" smtClean="0"/>
                        <a:t> singular noun?</a:t>
                      </a:r>
                    </a:p>
                    <a:p>
                      <a:r>
                        <a:rPr lang="en-US" sz="1000" baseline="0" dirty="0" smtClean="0"/>
                        <a:t>Are there + plural noun?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Yes, it is … / No, there isn’t.</a:t>
                      </a:r>
                    </a:p>
                    <a:p>
                      <a:r>
                        <a:rPr lang="en-US" sz="1000" dirty="0" smtClean="0"/>
                        <a:t>Yes,</a:t>
                      </a:r>
                      <a:r>
                        <a:rPr lang="en-US" sz="1000" baseline="0" dirty="0" smtClean="0"/>
                        <a:t> there are … / No, there aren’t.</a:t>
                      </a:r>
                      <a:endParaRPr lang="en-US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 Placeholder 1"/>
          <p:cNvSpPr txBox="1">
            <a:spLocks/>
          </p:cNvSpPr>
          <p:nvPr/>
        </p:nvSpPr>
        <p:spPr>
          <a:xfrm>
            <a:off x="468368" y="5030914"/>
            <a:ext cx="5226050" cy="7678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Prepositions of Place</a:t>
            </a:r>
          </a:p>
          <a:p>
            <a:pPr marL="0" indent="0"/>
            <a:endParaRPr lang="en-US" dirty="0" smtClean="0"/>
          </a:p>
          <a:p>
            <a:pPr marL="0" indent="0"/>
            <a:r>
              <a:rPr lang="en-US" dirty="0" smtClean="0"/>
              <a:t>You </a:t>
            </a:r>
            <a:r>
              <a:rPr lang="en-US" dirty="0"/>
              <a:t>use the following prepositions of place and expressions to talk about places in a neighborhood or city.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460244"/>
              </p:ext>
            </p:extLst>
          </p:nvPr>
        </p:nvGraphicFramePr>
        <p:xfrm>
          <a:off x="1143000" y="6062860"/>
          <a:ext cx="5155392" cy="2169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0121"/>
                <a:gridCol w="1526495"/>
                <a:gridCol w="2398776"/>
              </a:tblGrid>
              <a:tr h="274753"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Preposition</a:t>
                      </a:r>
                      <a:endParaRPr lang="en-US" sz="1000" b="1" dirty="0"/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Description</a:t>
                      </a:r>
                      <a:endParaRPr lang="en-US" sz="1000" b="1" dirty="0"/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Example</a:t>
                      </a:r>
                      <a:endParaRPr lang="en-US" sz="1000" b="1" dirty="0"/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  <a:tr h="243754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right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i="1" dirty="0" smtClean="0"/>
                        <a:t>The park is on the right.</a:t>
                      </a:r>
                      <a:endParaRPr lang="en-US" sz="1000" i="1" dirty="0"/>
                    </a:p>
                  </a:txBody>
                  <a:tcPr/>
                </a:tc>
              </a:tr>
              <a:tr h="164282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left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i="1" dirty="0" smtClean="0"/>
                        <a:t>The park is on the left.</a:t>
                      </a:r>
                      <a:endParaRPr lang="en-US" sz="1000" i="1" dirty="0"/>
                    </a:p>
                  </a:txBody>
                  <a:tcPr/>
                </a:tc>
              </a:tr>
              <a:tr h="174615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straight ahead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i="1" dirty="0" smtClean="0"/>
                        <a:t>The stadium is straight ahead.</a:t>
                      </a:r>
                      <a:endParaRPr lang="en-US" sz="1000" i="1" dirty="0"/>
                    </a:p>
                  </a:txBody>
                  <a:tcPr/>
                </a:tc>
              </a:tr>
              <a:tr h="146461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next to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i="1" dirty="0" smtClean="0"/>
                        <a:t>The bakery is net to the restaurant.</a:t>
                      </a:r>
                      <a:endParaRPr lang="en-US" sz="1000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near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i="1" dirty="0" smtClean="0"/>
                        <a:t>The bakery</a:t>
                      </a:r>
                      <a:r>
                        <a:rPr lang="en-US" sz="1000" i="1" baseline="0" dirty="0" smtClean="0"/>
                        <a:t> is near the restaurant. </a:t>
                      </a:r>
                      <a:endParaRPr lang="en-US" sz="1000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across from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i="1" dirty="0" smtClean="0"/>
                        <a:t>The restaurant</a:t>
                      </a:r>
                      <a:r>
                        <a:rPr lang="en-US" sz="1000" i="1" baseline="0" dirty="0" smtClean="0"/>
                        <a:t> is across from the park.</a:t>
                      </a:r>
                      <a:endParaRPr lang="en-US" sz="1000" i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741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2318</TotalTime>
  <Words>593</Words>
  <Application>Microsoft Macintosh PowerPoint</Application>
  <PresentationFormat>On-screen Show (4:3)</PresentationFormat>
  <Paragraphs>122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Katherine Luczynski</cp:lastModifiedBy>
  <cp:revision>133</cp:revision>
  <cp:lastPrinted>2015-07-16T15:48:24Z</cp:lastPrinted>
  <dcterms:created xsi:type="dcterms:W3CDTF">2015-07-06T14:08:02Z</dcterms:created>
  <dcterms:modified xsi:type="dcterms:W3CDTF">2015-07-21T02:30:18Z</dcterms:modified>
</cp:coreProperties>
</file>